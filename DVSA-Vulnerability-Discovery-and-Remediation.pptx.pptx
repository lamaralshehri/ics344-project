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omorrow Bold" charset="1" panose="00000000000000000000"/>
      <p:regular r:id="rId22"/>
    </p:embeddedFont>
    <p:embeddedFont>
      <p:font typeface="Tomorrow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3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4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6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1245098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DVSA Vulnerability Discovery &amp; Remediation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3375574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Analyze a vulnerable serverless AWS application (DVSA)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238" y="4243388"/>
            <a:ext cx="9445523" cy="2019891"/>
            <a:chOff x="0" y="0"/>
            <a:chExt cx="12594031" cy="26931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94082" cy="2693289"/>
            </a:xfrm>
            <a:custGeom>
              <a:avLst/>
              <a:gdLst/>
              <a:ahLst/>
              <a:cxnLst/>
              <a:rect r="r" b="b" t="t" l="l"/>
              <a:pathLst>
                <a:path h="2693289" w="1259408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2636520"/>
                  </a:lnTo>
                  <a:cubicBezTo>
                    <a:pt x="12594082" y="2667889"/>
                    <a:pt x="12568682" y="2693289"/>
                    <a:pt x="12537313" y="2693289"/>
                  </a:cubicBezTo>
                  <a:lnTo>
                    <a:pt x="56769" y="2693289"/>
                  </a:lnTo>
                  <a:cubicBezTo>
                    <a:pt x="25400" y="2693289"/>
                    <a:pt x="0" y="2667889"/>
                    <a:pt x="0" y="2636520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2238" y="4243388"/>
            <a:ext cx="3544043" cy="1009945"/>
            <a:chOff x="0" y="0"/>
            <a:chExt cx="4725391" cy="13465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5289" cy="1346454"/>
            </a:xfrm>
            <a:custGeom>
              <a:avLst/>
              <a:gdLst/>
              <a:ahLst/>
              <a:cxnLst/>
              <a:rect r="r" b="b" t="t" l="l"/>
              <a:pathLst>
                <a:path h="1346454" w="472528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4668647" y="0"/>
                  </a:lnTo>
                  <a:cubicBezTo>
                    <a:pt x="4700016" y="0"/>
                    <a:pt x="4725289" y="25400"/>
                    <a:pt x="4725289" y="56642"/>
                  </a:cubicBezTo>
                  <a:lnTo>
                    <a:pt x="4725289" y="1289812"/>
                  </a:lnTo>
                  <a:cubicBezTo>
                    <a:pt x="4725289" y="1321181"/>
                    <a:pt x="4699889" y="1346454"/>
                    <a:pt x="4668647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75759" y="4507859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Name: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4093" y="5271478"/>
            <a:ext cx="9445523" cy="1009945"/>
            <a:chOff x="0" y="0"/>
            <a:chExt cx="12594031" cy="13465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94082" cy="1346581"/>
            </a:xfrm>
            <a:custGeom>
              <a:avLst/>
              <a:gdLst/>
              <a:ahLst/>
              <a:cxnLst/>
              <a:rect r="r" b="b" t="t" l="l"/>
              <a:pathLst>
                <a:path h="1346581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1346581"/>
                  </a:lnTo>
                  <a:lnTo>
                    <a:pt x="0" y="1346581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92238" y="5253333"/>
            <a:ext cx="9445523" cy="38100"/>
            <a:chOff x="0" y="0"/>
            <a:chExt cx="12594031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94082" cy="50800"/>
            </a:xfrm>
            <a:custGeom>
              <a:avLst/>
              <a:gdLst/>
              <a:ahLst/>
              <a:cxnLst/>
              <a:rect r="r" b="b" t="t" l="l"/>
              <a:pathLst>
                <a:path h="50800" w="12594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68682" y="0"/>
                  </a:lnTo>
                  <a:cubicBezTo>
                    <a:pt x="12582651" y="0"/>
                    <a:pt x="12594082" y="11430"/>
                    <a:pt x="12594082" y="25400"/>
                  </a:cubicBezTo>
                  <a:cubicBezTo>
                    <a:pt x="12594082" y="39370"/>
                    <a:pt x="12582651" y="50800"/>
                    <a:pt x="12568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75759" y="5517804"/>
            <a:ext cx="8666531" cy="48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Find Vulnerabilities, exploit fix &amp; Verify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6486973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Basic Workflow:</a:t>
            </a: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User → API Gateway → Lambda → Database (S3/DynamoDB)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92238" y="7808414"/>
            <a:ext cx="9445523" cy="1204760"/>
            <a:chOff x="0" y="0"/>
            <a:chExt cx="12594031" cy="16063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93955" cy="1606296"/>
            </a:xfrm>
            <a:custGeom>
              <a:avLst/>
              <a:gdLst/>
              <a:ahLst/>
              <a:cxnLst/>
              <a:rect r="r" b="b" t="t" l="l"/>
              <a:pathLst>
                <a:path h="1606296" w="1259395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2537313" y="0"/>
                  </a:lnTo>
                  <a:cubicBezTo>
                    <a:pt x="12568682" y="0"/>
                    <a:pt x="12593955" y="25400"/>
                    <a:pt x="12593955" y="56642"/>
                  </a:cubicBezTo>
                  <a:lnTo>
                    <a:pt x="12593955" y="1549654"/>
                  </a:lnTo>
                  <a:cubicBezTo>
                    <a:pt x="12593955" y="1581023"/>
                    <a:pt x="12568555" y="1606296"/>
                    <a:pt x="12537313" y="1606296"/>
                  </a:cubicBezTo>
                  <a:lnTo>
                    <a:pt x="56642" y="1606296"/>
                  </a:lnTo>
                  <a:cubicBezTo>
                    <a:pt x="25273" y="1606296"/>
                    <a:pt x="0" y="1580896"/>
                    <a:pt x="0" y="1549654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75759" y="8248059"/>
            <a:ext cx="354359" cy="283521"/>
            <a:chOff x="0" y="0"/>
            <a:chExt cx="472478" cy="378028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71" r="-8" b="-65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913630" y="8067523"/>
            <a:ext cx="824061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Focus:</a:t>
            </a:r>
            <a:r>
              <a:rPr lang="en-US" sz="21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Cloud security issues in real-world architecture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549510" y="730891"/>
            <a:ext cx="6618837" cy="8825208"/>
            <a:chOff x="0" y="0"/>
            <a:chExt cx="8825116" cy="11766944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8825103" cy="11766931"/>
            </a:xfrm>
            <a:custGeom>
              <a:avLst/>
              <a:gdLst/>
              <a:ahLst/>
              <a:cxnLst/>
              <a:rect r="r" b="b" t="t" l="l"/>
              <a:pathLst>
                <a:path h="11766931" w="8825103">
                  <a:moveTo>
                    <a:pt x="0" y="0"/>
                  </a:moveTo>
                  <a:lnTo>
                    <a:pt x="8825103" y="0"/>
                  </a:lnTo>
                  <a:lnTo>
                    <a:pt x="8825103" y="11766931"/>
                  </a:lnTo>
                  <a:lnTo>
                    <a:pt x="0" y="11766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" r="0" b="-1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6760" y="767505"/>
            <a:ext cx="1515218" cy="521646"/>
            <a:chOff x="0" y="0"/>
            <a:chExt cx="2020291" cy="695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0316" cy="695579"/>
            </a:xfrm>
            <a:custGeom>
              <a:avLst/>
              <a:gdLst/>
              <a:ahLst/>
              <a:cxnLst/>
              <a:rect r="r" b="b" t="t" l="l"/>
              <a:pathLst>
                <a:path h="695579" w="2020316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975612" y="0"/>
                  </a:lnTo>
                  <a:cubicBezTo>
                    <a:pt x="2000250" y="0"/>
                    <a:pt x="2020316" y="19939"/>
                    <a:pt x="2020316" y="44704"/>
                  </a:cubicBezTo>
                  <a:lnTo>
                    <a:pt x="2020316" y="650875"/>
                  </a:lnTo>
                  <a:cubicBezTo>
                    <a:pt x="2020316" y="675513"/>
                    <a:pt x="2000377" y="695579"/>
                    <a:pt x="1975612" y="695579"/>
                  </a:cubicBezTo>
                  <a:lnTo>
                    <a:pt x="44704" y="695579"/>
                  </a:lnTo>
                  <a:cubicBezTo>
                    <a:pt x="19939" y="695579"/>
                    <a:pt x="0" y="675513"/>
                    <a:pt x="0" y="650875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4191" y="784469"/>
            <a:ext cx="1180357" cy="4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6760" y="1360884"/>
            <a:ext cx="14354623" cy="91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Event Injection: Insecure Deserialization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6760" y="3464719"/>
            <a:ext cx="5274469" cy="5274469"/>
            <a:chOff x="0" y="0"/>
            <a:chExt cx="7032625" cy="703262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32625" cy="7032625"/>
            </a:xfrm>
            <a:custGeom>
              <a:avLst/>
              <a:gdLst/>
              <a:ahLst/>
              <a:cxnLst/>
              <a:rect r="r" b="b" t="t" l="l"/>
              <a:pathLst>
                <a:path h="7032625" w="7032625">
                  <a:moveTo>
                    <a:pt x="0" y="0"/>
                  </a:moveTo>
                  <a:lnTo>
                    <a:pt x="7032625" y="0"/>
                  </a:lnTo>
                  <a:lnTo>
                    <a:pt x="7032625" y="7032625"/>
                  </a:lnTo>
                  <a:lnTo>
                    <a:pt x="0" y="7032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22446" y="2973143"/>
            <a:ext cx="5090217" cy="2269036"/>
            <a:chOff x="0" y="0"/>
            <a:chExt cx="6786956" cy="30253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736207" cy="2974594"/>
            </a:xfrm>
            <a:custGeom>
              <a:avLst/>
              <a:gdLst/>
              <a:ahLst/>
              <a:cxnLst/>
              <a:rect r="r" b="b" t="t" l="l"/>
              <a:pathLst>
                <a:path h="2974594" w="6736207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081" y="0"/>
                  </a:lnTo>
                  <a:cubicBezTo>
                    <a:pt x="6625972" y="0"/>
                    <a:pt x="6736207" y="109220"/>
                    <a:pt x="6736207" y="243840"/>
                  </a:cubicBezTo>
                  <a:lnTo>
                    <a:pt x="6736207" y="2730754"/>
                  </a:lnTo>
                  <a:cubicBezTo>
                    <a:pt x="6736207" y="2865374"/>
                    <a:pt x="6625972" y="2974594"/>
                    <a:pt x="6490081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87007" cy="3025394"/>
            </a:xfrm>
            <a:custGeom>
              <a:avLst/>
              <a:gdLst/>
              <a:ahLst/>
              <a:cxnLst/>
              <a:rect r="r" b="b" t="t" l="l"/>
              <a:pathLst>
                <a:path h="3025394" w="6787007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481" y="0"/>
                  </a:lnTo>
                  <a:lnTo>
                    <a:pt x="6515481" y="25400"/>
                  </a:lnTo>
                  <a:lnTo>
                    <a:pt x="6515481" y="0"/>
                  </a:lnTo>
                  <a:cubicBezTo>
                    <a:pt x="6665214" y="0"/>
                    <a:pt x="6787007" y="120269"/>
                    <a:pt x="6787007" y="269240"/>
                  </a:cubicBezTo>
                  <a:lnTo>
                    <a:pt x="6761607" y="269240"/>
                  </a:lnTo>
                  <a:lnTo>
                    <a:pt x="6787007" y="269240"/>
                  </a:lnTo>
                  <a:lnTo>
                    <a:pt x="6787007" y="2756154"/>
                  </a:lnTo>
                  <a:lnTo>
                    <a:pt x="6761607" y="2756154"/>
                  </a:lnTo>
                  <a:lnTo>
                    <a:pt x="6787007" y="2756154"/>
                  </a:lnTo>
                  <a:cubicBezTo>
                    <a:pt x="6787007" y="2905125"/>
                    <a:pt x="6665214" y="3025394"/>
                    <a:pt x="6515481" y="3025394"/>
                  </a:cubicBezTo>
                  <a:lnTo>
                    <a:pt x="6515481" y="2999994"/>
                  </a:lnTo>
                  <a:lnTo>
                    <a:pt x="6515481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481" y="2974594"/>
                  </a:lnTo>
                  <a:cubicBezTo>
                    <a:pt x="6637655" y="2974594"/>
                    <a:pt x="6736207" y="2876550"/>
                    <a:pt x="6736207" y="2756154"/>
                  </a:cubicBezTo>
                  <a:lnTo>
                    <a:pt x="6736207" y="269240"/>
                  </a:lnTo>
                  <a:cubicBezTo>
                    <a:pt x="6736207" y="148844"/>
                    <a:pt x="6637655" y="50800"/>
                    <a:pt x="6515481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903396" y="2992193"/>
            <a:ext cx="152400" cy="2230936"/>
            <a:chOff x="0" y="0"/>
            <a:chExt cx="203200" cy="29745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2974594"/>
            </a:xfrm>
            <a:custGeom>
              <a:avLst/>
              <a:gdLst/>
              <a:ahLst/>
              <a:cxnLst/>
              <a:rect r="r" b="b" t="t" l="l"/>
              <a:pathLst>
                <a:path h="2974594" w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372941" y="3290297"/>
            <a:ext cx="3488684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72941" y="3934416"/>
            <a:ext cx="430350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User input treated as executable code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49302" y="2973143"/>
            <a:ext cx="5090370" cy="2269036"/>
            <a:chOff x="0" y="0"/>
            <a:chExt cx="6787159" cy="30253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6736334" cy="2974594"/>
            </a:xfrm>
            <a:custGeom>
              <a:avLst/>
              <a:gdLst/>
              <a:ahLst/>
              <a:cxnLst/>
              <a:rect r="r" b="b" t="t" l="l"/>
              <a:pathLst>
                <a:path h="2974594" w="673633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208" y="0"/>
                  </a:lnTo>
                  <a:cubicBezTo>
                    <a:pt x="6626098" y="0"/>
                    <a:pt x="6736334" y="109220"/>
                    <a:pt x="6736334" y="243840"/>
                  </a:cubicBezTo>
                  <a:lnTo>
                    <a:pt x="6736334" y="2730754"/>
                  </a:lnTo>
                  <a:cubicBezTo>
                    <a:pt x="6736334" y="2865374"/>
                    <a:pt x="6626098" y="2974594"/>
                    <a:pt x="6490208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87134" cy="3025394"/>
            </a:xfrm>
            <a:custGeom>
              <a:avLst/>
              <a:gdLst/>
              <a:ahLst/>
              <a:cxnLst/>
              <a:rect r="r" b="b" t="t" l="l"/>
              <a:pathLst>
                <a:path h="3025394" w="678713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608" y="0"/>
                  </a:lnTo>
                  <a:lnTo>
                    <a:pt x="6515608" y="25400"/>
                  </a:lnTo>
                  <a:lnTo>
                    <a:pt x="6515608" y="0"/>
                  </a:lnTo>
                  <a:cubicBezTo>
                    <a:pt x="6665340" y="0"/>
                    <a:pt x="6787134" y="120269"/>
                    <a:pt x="6787134" y="269240"/>
                  </a:cubicBezTo>
                  <a:lnTo>
                    <a:pt x="6761734" y="269240"/>
                  </a:lnTo>
                  <a:lnTo>
                    <a:pt x="6787134" y="269240"/>
                  </a:lnTo>
                  <a:lnTo>
                    <a:pt x="6787134" y="2756154"/>
                  </a:lnTo>
                  <a:lnTo>
                    <a:pt x="6761734" y="2756154"/>
                  </a:lnTo>
                  <a:lnTo>
                    <a:pt x="6787134" y="2756154"/>
                  </a:lnTo>
                  <a:cubicBezTo>
                    <a:pt x="6787134" y="2905125"/>
                    <a:pt x="6665340" y="3025394"/>
                    <a:pt x="6515608" y="3025394"/>
                  </a:cubicBezTo>
                  <a:lnTo>
                    <a:pt x="6515608" y="2999994"/>
                  </a:lnTo>
                  <a:lnTo>
                    <a:pt x="6515608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608" y="2974594"/>
                  </a:lnTo>
                  <a:cubicBezTo>
                    <a:pt x="6637782" y="2974594"/>
                    <a:pt x="6736334" y="2876550"/>
                    <a:pt x="6736334" y="2756154"/>
                  </a:cubicBezTo>
                  <a:lnTo>
                    <a:pt x="6736334" y="269240"/>
                  </a:lnTo>
                  <a:cubicBezTo>
                    <a:pt x="6736334" y="148844"/>
                    <a:pt x="6637782" y="50800"/>
                    <a:pt x="651560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30252" y="2992193"/>
            <a:ext cx="152400" cy="2230936"/>
            <a:chOff x="0" y="0"/>
            <a:chExt cx="203200" cy="29745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974594"/>
            </a:xfrm>
            <a:custGeom>
              <a:avLst/>
              <a:gdLst/>
              <a:ahLst/>
              <a:cxnLst/>
              <a:rect r="r" b="b" t="t" l="l"/>
              <a:pathLst>
                <a:path h="2974594" w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99797" y="3290297"/>
            <a:ext cx="3488684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99797" y="3934416"/>
            <a:ext cx="430366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Remote Code Execution (RCE) — full Lambda compromise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922446" y="5478809"/>
            <a:ext cx="5090217" cy="2269036"/>
            <a:chOff x="0" y="0"/>
            <a:chExt cx="6786956" cy="30253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6736207" cy="2974594"/>
            </a:xfrm>
            <a:custGeom>
              <a:avLst/>
              <a:gdLst/>
              <a:ahLst/>
              <a:cxnLst/>
              <a:rect r="r" b="b" t="t" l="l"/>
              <a:pathLst>
                <a:path h="2974594" w="6736207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081" y="0"/>
                  </a:lnTo>
                  <a:cubicBezTo>
                    <a:pt x="6625972" y="0"/>
                    <a:pt x="6736207" y="109220"/>
                    <a:pt x="6736207" y="243840"/>
                  </a:cubicBezTo>
                  <a:lnTo>
                    <a:pt x="6736207" y="2730754"/>
                  </a:lnTo>
                  <a:cubicBezTo>
                    <a:pt x="6736207" y="2865374"/>
                    <a:pt x="6625972" y="2974594"/>
                    <a:pt x="6490081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87007" cy="3025394"/>
            </a:xfrm>
            <a:custGeom>
              <a:avLst/>
              <a:gdLst/>
              <a:ahLst/>
              <a:cxnLst/>
              <a:rect r="r" b="b" t="t" l="l"/>
              <a:pathLst>
                <a:path h="3025394" w="6787007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481" y="0"/>
                  </a:lnTo>
                  <a:lnTo>
                    <a:pt x="6515481" y="25400"/>
                  </a:lnTo>
                  <a:lnTo>
                    <a:pt x="6515481" y="0"/>
                  </a:lnTo>
                  <a:cubicBezTo>
                    <a:pt x="6665214" y="0"/>
                    <a:pt x="6787007" y="120269"/>
                    <a:pt x="6787007" y="269240"/>
                  </a:cubicBezTo>
                  <a:lnTo>
                    <a:pt x="6761607" y="269240"/>
                  </a:lnTo>
                  <a:lnTo>
                    <a:pt x="6787007" y="269240"/>
                  </a:lnTo>
                  <a:lnTo>
                    <a:pt x="6787007" y="2756154"/>
                  </a:lnTo>
                  <a:lnTo>
                    <a:pt x="6761607" y="2756154"/>
                  </a:lnTo>
                  <a:lnTo>
                    <a:pt x="6787007" y="2756154"/>
                  </a:lnTo>
                  <a:cubicBezTo>
                    <a:pt x="6787007" y="2905125"/>
                    <a:pt x="6665214" y="3025394"/>
                    <a:pt x="6515481" y="3025394"/>
                  </a:cubicBezTo>
                  <a:lnTo>
                    <a:pt x="6515481" y="2999994"/>
                  </a:lnTo>
                  <a:lnTo>
                    <a:pt x="6515481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481" y="2974594"/>
                  </a:lnTo>
                  <a:cubicBezTo>
                    <a:pt x="6637655" y="2974594"/>
                    <a:pt x="6736207" y="2876550"/>
                    <a:pt x="6736207" y="2756154"/>
                  </a:cubicBezTo>
                  <a:lnTo>
                    <a:pt x="6736207" y="269240"/>
                  </a:lnTo>
                  <a:cubicBezTo>
                    <a:pt x="6736207" y="148844"/>
                    <a:pt x="6637655" y="50800"/>
                    <a:pt x="6515481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03396" y="5497859"/>
            <a:ext cx="152400" cy="2230936"/>
            <a:chOff x="0" y="0"/>
            <a:chExt cx="203200" cy="29745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200" cy="2974594"/>
            </a:xfrm>
            <a:custGeom>
              <a:avLst/>
              <a:gdLst/>
              <a:ahLst/>
              <a:cxnLst/>
              <a:rect r="r" b="b" t="t" l="l"/>
              <a:pathLst>
                <a:path h="2974594" w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372941" y="5795962"/>
            <a:ext cx="3488684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72941" y="6440091"/>
            <a:ext cx="4303509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Unsafe library (node-serialize)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49302" y="5478809"/>
            <a:ext cx="5090370" cy="2269036"/>
            <a:chOff x="0" y="0"/>
            <a:chExt cx="6787159" cy="30253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6736334" cy="2974594"/>
            </a:xfrm>
            <a:custGeom>
              <a:avLst/>
              <a:gdLst/>
              <a:ahLst/>
              <a:cxnLst/>
              <a:rect r="r" b="b" t="t" l="l"/>
              <a:pathLst>
                <a:path h="2974594" w="673633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208" y="0"/>
                  </a:lnTo>
                  <a:cubicBezTo>
                    <a:pt x="6626098" y="0"/>
                    <a:pt x="6736334" y="109220"/>
                    <a:pt x="6736334" y="243840"/>
                  </a:cubicBezTo>
                  <a:lnTo>
                    <a:pt x="6736334" y="2730754"/>
                  </a:lnTo>
                  <a:cubicBezTo>
                    <a:pt x="6736334" y="2865374"/>
                    <a:pt x="6626098" y="2974594"/>
                    <a:pt x="6490208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87134" cy="3025394"/>
            </a:xfrm>
            <a:custGeom>
              <a:avLst/>
              <a:gdLst/>
              <a:ahLst/>
              <a:cxnLst/>
              <a:rect r="r" b="b" t="t" l="l"/>
              <a:pathLst>
                <a:path h="3025394" w="678713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608" y="0"/>
                  </a:lnTo>
                  <a:lnTo>
                    <a:pt x="6515608" y="25400"/>
                  </a:lnTo>
                  <a:lnTo>
                    <a:pt x="6515608" y="0"/>
                  </a:lnTo>
                  <a:cubicBezTo>
                    <a:pt x="6665340" y="0"/>
                    <a:pt x="6787134" y="120269"/>
                    <a:pt x="6787134" y="269240"/>
                  </a:cubicBezTo>
                  <a:lnTo>
                    <a:pt x="6761734" y="269240"/>
                  </a:lnTo>
                  <a:lnTo>
                    <a:pt x="6787134" y="269240"/>
                  </a:lnTo>
                  <a:lnTo>
                    <a:pt x="6787134" y="2756154"/>
                  </a:lnTo>
                  <a:lnTo>
                    <a:pt x="6761734" y="2756154"/>
                  </a:lnTo>
                  <a:lnTo>
                    <a:pt x="6787134" y="2756154"/>
                  </a:lnTo>
                  <a:cubicBezTo>
                    <a:pt x="6787134" y="2905125"/>
                    <a:pt x="6665340" y="3025394"/>
                    <a:pt x="6515608" y="3025394"/>
                  </a:cubicBezTo>
                  <a:lnTo>
                    <a:pt x="6515608" y="2999994"/>
                  </a:lnTo>
                  <a:lnTo>
                    <a:pt x="6515608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608" y="2974594"/>
                  </a:lnTo>
                  <a:cubicBezTo>
                    <a:pt x="6637782" y="2974594"/>
                    <a:pt x="6736334" y="2876550"/>
                    <a:pt x="6736334" y="2756154"/>
                  </a:cubicBezTo>
                  <a:lnTo>
                    <a:pt x="6736334" y="269240"/>
                  </a:lnTo>
                  <a:cubicBezTo>
                    <a:pt x="6736334" y="148844"/>
                    <a:pt x="6637782" y="50800"/>
                    <a:pt x="651560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30252" y="5497859"/>
            <a:ext cx="152400" cy="2230936"/>
            <a:chOff x="0" y="0"/>
            <a:chExt cx="203200" cy="29745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3200" cy="2974594"/>
            </a:xfrm>
            <a:custGeom>
              <a:avLst/>
              <a:gdLst/>
              <a:ahLst/>
              <a:cxnLst/>
              <a:rect r="r" b="b" t="t" l="l"/>
              <a:pathLst>
                <a:path h="2974594" w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699797" y="5795962"/>
            <a:ext cx="3488684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99797" y="6440091"/>
            <a:ext cx="430366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Replace with JSON.parse() + strict input validation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41496" y="8037757"/>
            <a:ext cx="10379126" cy="1173956"/>
            <a:chOff x="0" y="0"/>
            <a:chExt cx="13838834" cy="15652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838937" cy="1565275"/>
            </a:xfrm>
            <a:custGeom>
              <a:avLst/>
              <a:gdLst/>
              <a:ahLst/>
              <a:cxnLst/>
              <a:rect r="r" b="b" t="t" l="l"/>
              <a:pathLst>
                <a:path h="1565275" w="13838937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3783056" y="0"/>
                  </a:lnTo>
                  <a:cubicBezTo>
                    <a:pt x="13813918" y="0"/>
                    <a:pt x="13838937" y="25019"/>
                    <a:pt x="13838937" y="55880"/>
                  </a:cubicBezTo>
                  <a:lnTo>
                    <a:pt x="13838937" y="1509395"/>
                  </a:lnTo>
                  <a:cubicBezTo>
                    <a:pt x="13838937" y="1540256"/>
                    <a:pt x="13813918" y="1565275"/>
                    <a:pt x="13783056" y="1565275"/>
                  </a:cubicBezTo>
                  <a:lnTo>
                    <a:pt x="55880" y="1565275"/>
                  </a:lnTo>
                  <a:cubicBezTo>
                    <a:pt x="25019" y="1565275"/>
                    <a:pt x="0" y="1540256"/>
                    <a:pt x="0" y="1509395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220541" y="8466087"/>
            <a:ext cx="348853" cy="279054"/>
            <a:chOff x="0" y="0"/>
            <a:chExt cx="465138" cy="372072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465201" cy="372110"/>
            </a:xfrm>
            <a:custGeom>
              <a:avLst/>
              <a:gdLst/>
              <a:ahLst/>
              <a:cxnLst/>
              <a:rect r="r" b="b" t="t" l="l"/>
              <a:pathLst>
                <a:path h="372110" w="465201">
                  <a:moveTo>
                    <a:pt x="0" y="0"/>
                  </a:moveTo>
                  <a:lnTo>
                    <a:pt x="465201" y="0"/>
                  </a:lnTo>
                  <a:lnTo>
                    <a:pt x="465201" y="372110"/>
                  </a:lnTo>
                  <a:lnTo>
                    <a:pt x="0" y="37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9" t="0" r="-1015" b="1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848448" y="8296427"/>
            <a:ext cx="9193111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1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Never treat user input as code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695" y="771677"/>
            <a:ext cx="1462088" cy="478041"/>
            <a:chOff x="0" y="0"/>
            <a:chExt cx="1949450" cy="637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9450" cy="637287"/>
            </a:xfrm>
            <a:custGeom>
              <a:avLst/>
              <a:gdLst/>
              <a:ahLst/>
              <a:cxnLst/>
              <a:rect r="r" b="b" t="t" l="l"/>
              <a:pathLst>
                <a:path h="637287" w="1949450">
                  <a:moveTo>
                    <a:pt x="0" y="41783"/>
                  </a:moveTo>
                  <a:cubicBezTo>
                    <a:pt x="0" y="18669"/>
                    <a:pt x="18669" y="0"/>
                    <a:pt x="41783" y="0"/>
                  </a:cubicBezTo>
                  <a:lnTo>
                    <a:pt x="1907667" y="0"/>
                  </a:lnTo>
                  <a:cubicBezTo>
                    <a:pt x="1930781" y="0"/>
                    <a:pt x="1949450" y="18669"/>
                    <a:pt x="1949450" y="41783"/>
                  </a:cubicBezTo>
                  <a:lnTo>
                    <a:pt x="1949450" y="595503"/>
                  </a:lnTo>
                  <a:cubicBezTo>
                    <a:pt x="1949450" y="618617"/>
                    <a:pt x="1930781" y="637286"/>
                    <a:pt x="1907667" y="637286"/>
                  </a:cubicBezTo>
                  <a:lnTo>
                    <a:pt x="41783" y="637286"/>
                  </a:lnTo>
                  <a:cubicBezTo>
                    <a:pt x="18669" y="637413"/>
                    <a:pt x="0" y="618617"/>
                    <a:pt x="0" y="595503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1410" y="802329"/>
            <a:ext cx="1148658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695" y="1326947"/>
            <a:ext cx="16458609" cy="165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Broken Authentication: JWT Signature Not Verified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695" y="3754936"/>
            <a:ext cx="5346059" cy="5346059"/>
            <a:chOff x="0" y="0"/>
            <a:chExt cx="7128078" cy="712807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128129" cy="7128129"/>
            </a:xfrm>
            <a:custGeom>
              <a:avLst/>
              <a:gdLst/>
              <a:ahLst/>
              <a:cxnLst/>
              <a:rect r="r" b="b" t="t" l="l"/>
              <a:pathLst>
                <a:path h="7128129" w="7128129">
                  <a:moveTo>
                    <a:pt x="0" y="0"/>
                  </a:moveTo>
                  <a:lnTo>
                    <a:pt x="7128129" y="0"/>
                  </a:lnTo>
                  <a:lnTo>
                    <a:pt x="7128129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93566" y="3597621"/>
            <a:ext cx="5145434" cy="2060972"/>
            <a:chOff x="0" y="0"/>
            <a:chExt cx="6860578" cy="27479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6822440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440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0540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540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79279" y="3611909"/>
            <a:ext cx="114300" cy="2032397"/>
            <a:chOff x="0" y="0"/>
            <a:chExt cx="152400" cy="27098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83501" y="3892306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83501" y="4465291"/>
            <a:ext cx="4451299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Token payload trusted without signature verification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51379" y="3597621"/>
            <a:ext cx="5145586" cy="2060972"/>
            <a:chOff x="0" y="0"/>
            <a:chExt cx="6860781" cy="27479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050" y="19050"/>
              <a:ext cx="6822694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694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60794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794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37091" y="3611909"/>
            <a:ext cx="114300" cy="2032397"/>
            <a:chOff x="0" y="0"/>
            <a:chExt cx="152400" cy="27098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41313" y="3892306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1313" y="4465291"/>
            <a:ext cx="4451452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User impersonation and unauthorized data access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93566" y="5870972"/>
            <a:ext cx="5145434" cy="2060972"/>
            <a:chOff x="0" y="0"/>
            <a:chExt cx="6860578" cy="27479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6822440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440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0540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540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79279" y="5885259"/>
            <a:ext cx="114300" cy="2032397"/>
            <a:chOff x="0" y="0"/>
            <a:chExt cx="152400" cy="27098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283501" y="6165647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83501" y="6738642"/>
            <a:ext cx="4451299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Only decoding JWT, not verifying the signature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51379" y="5870972"/>
            <a:ext cx="5145586" cy="2060972"/>
            <a:chOff x="0" y="0"/>
            <a:chExt cx="6860781" cy="27479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6822694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694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60794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794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37091" y="5885259"/>
            <a:ext cx="114300" cy="2032397"/>
            <a:chOff x="0" y="0"/>
            <a:chExt cx="152400" cy="27098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641313" y="6165647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41313" y="6738642"/>
            <a:ext cx="4451452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Verify JWT using Cognito public keys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07854" y="8188671"/>
            <a:ext cx="10474823" cy="1055484"/>
            <a:chOff x="0" y="0"/>
            <a:chExt cx="13966431" cy="14073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66444" cy="1407414"/>
            </a:xfrm>
            <a:custGeom>
              <a:avLst/>
              <a:gdLst/>
              <a:ahLst/>
              <a:cxnLst/>
              <a:rect r="r" b="b" t="t" l="l"/>
              <a:pathLst>
                <a:path h="1407414" w="13966444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3914120" y="0"/>
                  </a:lnTo>
                  <a:cubicBezTo>
                    <a:pt x="13942949" y="0"/>
                    <a:pt x="13966444" y="23368"/>
                    <a:pt x="13966444" y="52324"/>
                  </a:cubicBezTo>
                  <a:lnTo>
                    <a:pt x="13966444" y="1355090"/>
                  </a:lnTo>
                  <a:cubicBezTo>
                    <a:pt x="13966444" y="1383919"/>
                    <a:pt x="13943076" y="1407414"/>
                    <a:pt x="13914120" y="1407414"/>
                  </a:cubicBezTo>
                  <a:lnTo>
                    <a:pt x="52324" y="1407414"/>
                  </a:lnTo>
                  <a:cubicBezTo>
                    <a:pt x="23495" y="1407414"/>
                    <a:pt x="0" y="1384046"/>
                    <a:pt x="0" y="1355090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69201" y="8591398"/>
            <a:ext cx="326679" cy="261347"/>
            <a:chOff x="0" y="0"/>
            <a:chExt cx="435572" cy="348463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435610" cy="348488"/>
            </a:xfrm>
            <a:custGeom>
              <a:avLst/>
              <a:gdLst/>
              <a:ahLst/>
              <a:cxnLst/>
              <a:rect r="r" b="b" t="t" l="l"/>
              <a:pathLst>
                <a:path h="348488" w="435610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t="0" r="-361" b="7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757217" y="8409232"/>
            <a:ext cx="9364113" cy="48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Authentication = verification, not decoding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5804" y="754561"/>
            <a:ext cx="1514323" cy="499767"/>
            <a:chOff x="0" y="0"/>
            <a:chExt cx="2019097" cy="6663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9046" cy="666242"/>
            </a:xfrm>
            <a:custGeom>
              <a:avLst/>
              <a:gdLst/>
              <a:ahLst/>
              <a:cxnLst/>
              <a:rect r="r" b="b" t="t" l="l"/>
              <a:pathLst>
                <a:path h="666242" w="2019046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975866" y="0"/>
                  </a:lnTo>
                  <a:cubicBezTo>
                    <a:pt x="1999742" y="0"/>
                    <a:pt x="2019046" y="19304"/>
                    <a:pt x="2019046" y="43180"/>
                  </a:cubicBezTo>
                  <a:lnTo>
                    <a:pt x="2019046" y="623062"/>
                  </a:lnTo>
                  <a:cubicBezTo>
                    <a:pt x="2019046" y="646938"/>
                    <a:pt x="1999742" y="666242"/>
                    <a:pt x="1975866" y="666242"/>
                  </a:cubicBezTo>
                  <a:lnTo>
                    <a:pt x="43180" y="666242"/>
                  </a:lnTo>
                  <a:cubicBezTo>
                    <a:pt x="19304" y="666242"/>
                    <a:pt x="0" y="646938"/>
                    <a:pt x="0" y="623062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07872" y="768848"/>
            <a:ext cx="1190177" cy="40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804" y="1328737"/>
            <a:ext cx="14359833" cy="8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Sensitive Data Exposure: S3 Data Leakage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5804" y="3405188"/>
            <a:ext cx="5310188" cy="5310188"/>
            <a:chOff x="0" y="0"/>
            <a:chExt cx="7080250" cy="70802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80250" cy="7080250"/>
            </a:xfrm>
            <a:custGeom>
              <a:avLst/>
              <a:gdLst/>
              <a:ahLst/>
              <a:cxnLst/>
              <a:rect r="r" b="b" t="t" l="l"/>
              <a:pathLst>
                <a:path h="7080250" w="7080250">
                  <a:moveTo>
                    <a:pt x="0" y="0"/>
                  </a:moveTo>
                  <a:lnTo>
                    <a:pt x="7080250" y="0"/>
                  </a:lnTo>
                  <a:lnTo>
                    <a:pt x="7080250" y="7080250"/>
                  </a:lnTo>
                  <a:lnTo>
                    <a:pt x="0" y="708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05777" y="2858986"/>
            <a:ext cx="5122812" cy="2178691"/>
            <a:chOff x="0" y="0"/>
            <a:chExt cx="6830416" cy="29049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779641" cy="2854198"/>
            </a:xfrm>
            <a:custGeom>
              <a:avLst/>
              <a:gdLst/>
              <a:ahLst/>
              <a:cxnLst/>
              <a:rect r="r" b="b" t="t" l="l"/>
              <a:pathLst>
                <a:path h="2854198" w="6779641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30441" cy="2904998"/>
            </a:xfrm>
            <a:custGeom>
              <a:avLst/>
              <a:gdLst/>
              <a:ahLst/>
              <a:cxnLst/>
              <a:rect r="r" b="b" t="t" l="l"/>
              <a:pathLst>
                <a:path h="2904998" w="6830441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86727" y="2878036"/>
            <a:ext cx="152400" cy="2140591"/>
            <a:chOff x="0" y="0"/>
            <a:chExt cx="203200" cy="28541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2854198"/>
            </a:xfrm>
            <a:custGeom>
              <a:avLst/>
              <a:gdLst/>
              <a:ahLst/>
              <a:cxnLst/>
              <a:rect r="r" b="b" t="t" l="l"/>
              <a:pathLst>
                <a:path h="2854198" w="20320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347347" y="3167215"/>
            <a:ext cx="3377956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7347" y="3789759"/>
            <a:ext cx="4353963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Unauthorized access to receipt files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47959" y="2858986"/>
            <a:ext cx="5122812" cy="2178691"/>
            <a:chOff x="0" y="0"/>
            <a:chExt cx="6830416" cy="29049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6779641" cy="2854198"/>
            </a:xfrm>
            <a:custGeom>
              <a:avLst/>
              <a:gdLst/>
              <a:ahLst/>
              <a:cxnLst/>
              <a:rect r="r" b="b" t="t" l="l"/>
              <a:pathLst>
                <a:path h="2854198" w="6779641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30441" cy="2904998"/>
            </a:xfrm>
            <a:custGeom>
              <a:avLst/>
              <a:gdLst/>
              <a:ahLst/>
              <a:cxnLst/>
              <a:rect r="r" b="b" t="t" l="l"/>
              <a:pathLst>
                <a:path h="2904998" w="6830441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28909" y="2878036"/>
            <a:ext cx="152400" cy="2140591"/>
            <a:chOff x="0" y="0"/>
            <a:chExt cx="203200" cy="28541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854198"/>
            </a:xfrm>
            <a:custGeom>
              <a:avLst/>
              <a:gdLst/>
              <a:ahLst/>
              <a:cxnLst/>
              <a:rect r="r" b="b" t="t" l="l"/>
              <a:pathLst>
                <a:path h="2854198" w="20320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89529" y="3167215"/>
            <a:ext cx="3377956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89529" y="3789759"/>
            <a:ext cx="4353963" cy="49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Exposure of sensitive user data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905777" y="5257057"/>
            <a:ext cx="5122812" cy="2600916"/>
            <a:chOff x="0" y="0"/>
            <a:chExt cx="6830416" cy="34678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6779641" cy="3417062"/>
            </a:xfrm>
            <a:custGeom>
              <a:avLst/>
              <a:gdLst/>
              <a:ahLst/>
              <a:cxnLst/>
              <a:rect r="r" b="b" t="t" l="l"/>
              <a:pathLst>
                <a:path h="3417062" w="6779641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534023" y="0"/>
                  </a:lnTo>
                  <a:cubicBezTo>
                    <a:pt x="6669659" y="0"/>
                    <a:pt x="6779641" y="109220"/>
                    <a:pt x="6779641" y="243840"/>
                  </a:cubicBezTo>
                  <a:lnTo>
                    <a:pt x="6779641" y="3173222"/>
                  </a:lnTo>
                  <a:cubicBezTo>
                    <a:pt x="6779641" y="3307842"/>
                    <a:pt x="6669659" y="3417062"/>
                    <a:pt x="6534023" y="3417062"/>
                  </a:cubicBezTo>
                  <a:lnTo>
                    <a:pt x="245618" y="3417062"/>
                  </a:lnTo>
                  <a:cubicBezTo>
                    <a:pt x="109982" y="3417062"/>
                    <a:pt x="0" y="3307842"/>
                    <a:pt x="0" y="3173222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30441" cy="3467862"/>
            </a:xfrm>
            <a:custGeom>
              <a:avLst/>
              <a:gdLst/>
              <a:ahLst/>
              <a:cxnLst/>
              <a:rect r="r" b="b" t="t" l="l"/>
              <a:pathLst>
                <a:path h="3467862" w="6830441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559423" y="0"/>
                  </a:lnTo>
                  <a:lnTo>
                    <a:pt x="6559423" y="25400"/>
                  </a:lnTo>
                  <a:lnTo>
                    <a:pt x="6559423" y="0"/>
                  </a:lnTo>
                  <a:cubicBezTo>
                    <a:pt x="6708902" y="0"/>
                    <a:pt x="6830441" y="120396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3198622"/>
                  </a:lnTo>
                  <a:lnTo>
                    <a:pt x="6805041" y="3198622"/>
                  </a:lnTo>
                  <a:lnTo>
                    <a:pt x="6830441" y="3198622"/>
                  </a:lnTo>
                  <a:cubicBezTo>
                    <a:pt x="6830441" y="3347466"/>
                    <a:pt x="6708902" y="3467862"/>
                    <a:pt x="6559423" y="3467862"/>
                  </a:cubicBezTo>
                  <a:lnTo>
                    <a:pt x="6559423" y="3442462"/>
                  </a:lnTo>
                  <a:lnTo>
                    <a:pt x="6559423" y="3467862"/>
                  </a:lnTo>
                  <a:lnTo>
                    <a:pt x="271018" y="3467862"/>
                  </a:lnTo>
                  <a:lnTo>
                    <a:pt x="271018" y="3442462"/>
                  </a:lnTo>
                  <a:lnTo>
                    <a:pt x="271018" y="3467862"/>
                  </a:lnTo>
                  <a:cubicBezTo>
                    <a:pt x="121539" y="3467862"/>
                    <a:pt x="0" y="3347466"/>
                    <a:pt x="0" y="31986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98622"/>
                  </a:lnTo>
                  <a:lnTo>
                    <a:pt x="25400" y="3198622"/>
                  </a:lnTo>
                  <a:lnTo>
                    <a:pt x="50800" y="3198622"/>
                  </a:lnTo>
                  <a:cubicBezTo>
                    <a:pt x="50800" y="3319145"/>
                    <a:pt x="149225" y="3417062"/>
                    <a:pt x="271018" y="3417062"/>
                  </a:cubicBezTo>
                  <a:lnTo>
                    <a:pt x="6559423" y="3417062"/>
                  </a:lnTo>
                  <a:cubicBezTo>
                    <a:pt x="6681216" y="3417062"/>
                    <a:pt x="6779641" y="3319145"/>
                    <a:pt x="6779641" y="3198622"/>
                  </a:cubicBezTo>
                  <a:lnTo>
                    <a:pt x="6779641" y="269240"/>
                  </a:lnTo>
                  <a:cubicBezTo>
                    <a:pt x="6779641" y="148717"/>
                    <a:pt x="6681216" y="50800"/>
                    <a:pt x="6559423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86727" y="5276107"/>
            <a:ext cx="152400" cy="2562816"/>
            <a:chOff x="0" y="0"/>
            <a:chExt cx="203200" cy="34170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200" cy="3417189"/>
            </a:xfrm>
            <a:custGeom>
              <a:avLst/>
              <a:gdLst/>
              <a:ahLst/>
              <a:cxnLst/>
              <a:rect r="r" b="b" t="t" l="l"/>
              <a:pathLst>
                <a:path h="3417189" w="20320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3363087"/>
                  </a:lnTo>
                  <a:cubicBezTo>
                    <a:pt x="203200" y="3392932"/>
                    <a:pt x="178943" y="3417189"/>
                    <a:pt x="149098" y="3417189"/>
                  </a:cubicBezTo>
                  <a:lnTo>
                    <a:pt x="54102" y="3417189"/>
                  </a:lnTo>
                  <a:cubicBezTo>
                    <a:pt x="24257" y="3417189"/>
                    <a:pt x="0" y="3392932"/>
                    <a:pt x="0" y="336308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347347" y="5565277"/>
            <a:ext cx="3377956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47347" y="6187831"/>
            <a:ext cx="4353963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Weak access control on S3 bucket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47959" y="5257057"/>
            <a:ext cx="5122812" cy="2600916"/>
            <a:chOff x="0" y="0"/>
            <a:chExt cx="6830416" cy="34678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6779641" cy="3417062"/>
            </a:xfrm>
            <a:custGeom>
              <a:avLst/>
              <a:gdLst/>
              <a:ahLst/>
              <a:cxnLst/>
              <a:rect r="r" b="b" t="t" l="l"/>
              <a:pathLst>
                <a:path h="3417062" w="6779641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534023" y="0"/>
                  </a:lnTo>
                  <a:cubicBezTo>
                    <a:pt x="6669659" y="0"/>
                    <a:pt x="6779641" y="109220"/>
                    <a:pt x="6779641" y="243840"/>
                  </a:cubicBezTo>
                  <a:lnTo>
                    <a:pt x="6779641" y="3173222"/>
                  </a:lnTo>
                  <a:cubicBezTo>
                    <a:pt x="6779641" y="3307842"/>
                    <a:pt x="6669659" y="3417062"/>
                    <a:pt x="6534023" y="3417062"/>
                  </a:cubicBezTo>
                  <a:lnTo>
                    <a:pt x="245618" y="3417062"/>
                  </a:lnTo>
                  <a:cubicBezTo>
                    <a:pt x="109982" y="3417062"/>
                    <a:pt x="0" y="3307842"/>
                    <a:pt x="0" y="3173222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30441" cy="3467862"/>
            </a:xfrm>
            <a:custGeom>
              <a:avLst/>
              <a:gdLst/>
              <a:ahLst/>
              <a:cxnLst/>
              <a:rect r="r" b="b" t="t" l="l"/>
              <a:pathLst>
                <a:path h="3467862" w="6830441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559423" y="0"/>
                  </a:lnTo>
                  <a:lnTo>
                    <a:pt x="6559423" y="25400"/>
                  </a:lnTo>
                  <a:lnTo>
                    <a:pt x="6559423" y="0"/>
                  </a:lnTo>
                  <a:cubicBezTo>
                    <a:pt x="6708902" y="0"/>
                    <a:pt x="6830441" y="120396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3198622"/>
                  </a:lnTo>
                  <a:lnTo>
                    <a:pt x="6805041" y="3198622"/>
                  </a:lnTo>
                  <a:lnTo>
                    <a:pt x="6830441" y="3198622"/>
                  </a:lnTo>
                  <a:cubicBezTo>
                    <a:pt x="6830441" y="3347466"/>
                    <a:pt x="6708902" y="3467862"/>
                    <a:pt x="6559423" y="3467862"/>
                  </a:cubicBezTo>
                  <a:lnTo>
                    <a:pt x="6559423" y="3442462"/>
                  </a:lnTo>
                  <a:lnTo>
                    <a:pt x="6559423" y="3467862"/>
                  </a:lnTo>
                  <a:lnTo>
                    <a:pt x="271018" y="3467862"/>
                  </a:lnTo>
                  <a:lnTo>
                    <a:pt x="271018" y="3442462"/>
                  </a:lnTo>
                  <a:lnTo>
                    <a:pt x="271018" y="3467862"/>
                  </a:lnTo>
                  <a:cubicBezTo>
                    <a:pt x="121539" y="3467862"/>
                    <a:pt x="0" y="3347466"/>
                    <a:pt x="0" y="31986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98622"/>
                  </a:lnTo>
                  <a:lnTo>
                    <a:pt x="25400" y="3198622"/>
                  </a:lnTo>
                  <a:lnTo>
                    <a:pt x="50800" y="3198622"/>
                  </a:lnTo>
                  <a:cubicBezTo>
                    <a:pt x="50800" y="3319145"/>
                    <a:pt x="149225" y="3417062"/>
                    <a:pt x="271018" y="3417062"/>
                  </a:cubicBezTo>
                  <a:lnTo>
                    <a:pt x="6559423" y="3417062"/>
                  </a:lnTo>
                  <a:cubicBezTo>
                    <a:pt x="6681216" y="3417062"/>
                    <a:pt x="6779641" y="3319145"/>
                    <a:pt x="6779641" y="3198622"/>
                  </a:cubicBezTo>
                  <a:lnTo>
                    <a:pt x="6779641" y="269240"/>
                  </a:lnTo>
                  <a:cubicBezTo>
                    <a:pt x="6779641" y="148717"/>
                    <a:pt x="6681216" y="50800"/>
                    <a:pt x="6559423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28909" y="5276107"/>
            <a:ext cx="152400" cy="2562816"/>
            <a:chOff x="0" y="0"/>
            <a:chExt cx="203200" cy="34170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3200" cy="3417189"/>
            </a:xfrm>
            <a:custGeom>
              <a:avLst/>
              <a:gdLst/>
              <a:ahLst/>
              <a:cxnLst/>
              <a:rect r="r" b="b" t="t" l="l"/>
              <a:pathLst>
                <a:path h="3417189" w="20320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3363087"/>
                  </a:lnTo>
                  <a:cubicBezTo>
                    <a:pt x="203200" y="3392932"/>
                    <a:pt x="178943" y="3417189"/>
                    <a:pt x="149098" y="3417189"/>
                  </a:cubicBezTo>
                  <a:lnTo>
                    <a:pt x="54102" y="3417189"/>
                  </a:lnTo>
                  <a:cubicBezTo>
                    <a:pt x="24257" y="3417189"/>
                    <a:pt x="0" y="3392932"/>
                    <a:pt x="0" y="336308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689529" y="5565277"/>
            <a:ext cx="3377956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89529" y="6187831"/>
            <a:ext cx="4353963" cy="13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Restrict access to authorized users only; use secure signed URLs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24827" y="8128692"/>
            <a:ext cx="10426903" cy="1113834"/>
            <a:chOff x="0" y="0"/>
            <a:chExt cx="13902538" cy="148511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02564" cy="1485138"/>
            </a:xfrm>
            <a:custGeom>
              <a:avLst/>
              <a:gdLst/>
              <a:ahLst/>
              <a:cxnLst/>
              <a:rect r="r" b="b" t="t" l="l"/>
              <a:pathLst>
                <a:path h="1485138" w="13902564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3848462" y="0"/>
                  </a:lnTo>
                  <a:cubicBezTo>
                    <a:pt x="13878306" y="0"/>
                    <a:pt x="13902564" y="24257"/>
                    <a:pt x="13902564" y="54102"/>
                  </a:cubicBezTo>
                  <a:lnTo>
                    <a:pt x="13902564" y="1431036"/>
                  </a:lnTo>
                  <a:cubicBezTo>
                    <a:pt x="13902564" y="1460881"/>
                    <a:pt x="13878306" y="1485138"/>
                    <a:pt x="13848462" y="1485138"/>
                  </a:cubicBezTo>
                  <a:lnTo>
                    <a:pt x="54102" y="1485138"/>
                  </a:lnTo>
                  <a:cubicBezTo>
                    <a:pt x="24257" y="1485138"/>
                    <a:pt x="0" y="1460881"/>
                    <a:pt x="0" y="1431036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94947" y="8544077"/>
            <a:ext cx="337690" cy="270119"/>
            <a:chOff x="0" y="0"/>
            <a:chExt cx="450253" cy="360159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450215" cy="360172"/>
            </a:xfrm>
            <a:custGeom>
              <a:avLst/>
              <a:gdLst/>
              <a:ahLst/>
              <a:cxnLst/>
              <a:rect r="r" b="b" t="t" l="l"/>
              <a:pathLst>
                <a:path h="360172" w="450215">
                  <a:moveTo>
                    <a:pt x="0" y="0"/>
                  </a:moveTo>
                  <a:lnTo>
                    <a:pt x="450215" y="0"/>
                  </a:lnTo>
                  <a:lnTo>
                    <a:pt x="450215" y="360172"/>
                  </a:lnTo>
                  <a:lnTo>
                    <a:pt x="0" y="36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" r="-8" b="-3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802766" y="8377390"/>
            <a:ext cx="9278836" cy="49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12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Protect storage, not just APIs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695" y="914848"/>
            <a:ext cx="1455687" cy="478041"/>
            <a:chOff x="0" y="0"/>
            <a:chExt cx="1940916" cy="637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0941" cy="637287"/>
            </a:xfrm>
            <a:custGeom>
              <a:avLst/>
              <a:gdLst/>
              <a:ahLst/>
              <a:cxnLst/>
              <a:rect r="r" b="b" t="t" l="l"/>
              <a:pathLst>
                <a:path h="637287" w="1940941">
                  <a:moveTo>
                    <a:pt x="0" y="41783"/>
                  </a:moveTo>
                  <a:cubicBezTo>
                    <a:pt x="0" y="18669"/>
                    <a:pt x="18669" y="0"/>
                    <a:pt x="41783" y="0"/>
                  </a:cubicBezTo>
                  <a:lnTo>
                    <a:pt x="1899158" y="0"/>
                  </a:lnTo>
                  <a:cubicBezTo>
                    <a:pt x="1922272" y="0"/>
                    <a:pt x="1940941" y="18669"/>
                    <a:pt x="1940941" y="41783"/>
                  </a:cubicBezTo>
                  <a:lnTo>
                    <a:pt x="1940941" y="595503"/>
                  </a:lnTo>
                  <a:cubicBezTo>
                    <a:pt x="1940941" y="618617"/>
                    <a:pt x="1922272" y="637286"/>
                    <a:pt x="1899158" y="637286"/>
                  </a:cubicBezTo>
                  <a:lnTo>
                    <a:pt x="41783" y="637286"/>
                  </a:lnTo>
                  <a:cubicBezTo>
                    <a:pt x="18669" y="637413"/>
                    <a:pt x="0" y="618617"/>
                    <a:pt x="0" y="595503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1410" y="945509"/>
            <a:ext cx="1142257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695" y="1470127"/>
            <a:ext cx="16458609" cy="165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Insecure Cloud Configuration: Misconfigured S3 Bucket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695" y="3755079"/>
            <a:ext cx="5346059" cy="5346059"/>
            <a:chOff x="0" y="0"/>
            <a:chExt cx="7128078" cy="712807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128129" cy="7128129"/>
            </a:xfrm>
            <a:custGeom>
              <a:avLst/>
              <a:gdLst/>
              <a:ahLst/>
              <a:cxnLst/>
              <a:rect r="r" b="b" t="t" l="l"/>
              <a:pathLst>
                <a:path h="7128129" w="7128129">
                  <a:moveTo>
                    <a:pt x="0" y="0"/>
                  </a:moveTo>
                  <a:lnTo>
                    <a:pt x="7128129" y="0"/>
                  </a:lnTo>
                  <a:lnTo>
                    <a:pt x="7128129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93566" y="3798541"/>
            <a:ext cx="5145434" cy="1659284"/>
            <a:chOff x="0" y="0"/>
            <a:chExt cx="6860578" cy="22123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6822440" cy="2174240"/>
            </a:xfrm>
            <a:custGeom>
              <a:avLst/>
              <a:gdLst/>
              <a:ahLst/>
              <a:cxnLst/>
              <a:rect r="r" b="b" t="t" l="l"/>
              <a:pathLst>
                <a:path h="2174240" w="6822440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6637401" y="0"/>
                  </a:lnTo>
                  <a:cubicBezTo>
                    <a:pt x="6739636" y="0"/>
                    <a:pt x="6822440" y="81915"/>
                    <a:pt x="6822440" y="182880"/>
                  </a:cubicBezTo>
                  <a:lnTo>
                    <a:pt x="6822440" y="1991360"/>
                  </a:lnTo>
                  <a:cubicBezTo>
                    <a:pt x="6822440" y="2092325"/>
                    <a:pt x="6739636" y="2174240"/>
                    <a:pt x="6637401" y="2174240"/>
                  </a:cubicBezTo>
                  <a:lnTo>
                    <a:pt x="185039" y="2174240"/>
                  </a:lnTo>
                  <a:cubicBezTo>
                    <a:pt x="82804" y="2174240"/>
                    <a:pt x="0" y="2092325"/>
                    <a:pt x="0" y="1991360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0540" cy="2212340"/>
            </a:xfrm>
            <a:custGeom>
              <a:avLst/>
              <a:gdLst/>
              <a:ahLst/>
              <a:cxnLst/>
              <a:rect r="r" b="b" t="t" l="l"/>
              <a:pathLst>
                <a:path h="2212340" w="6860540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6656451" y="0"/>
                  </a:lnTo>
                  <a:lnTo>
                    <a:pt x="6656451" y="19050"/>
                  </a:lnTo>
                  <a:lnTo>
                    <a:pt x="6656451" y="0"/>
                  </a:lnTo>
                  <a:cubicBezTo>
                    <a:pt x="6768973" y="0"/>
                    <a:pt x="6860540" y="90170"/>
                    <a:pt x="6860540" y="201930"/>
                  </a:cubicBezTo>
                  <a:lnTo>
                    <a:pt x="6841490" y="201930"/>
                  </a:lnTo>
                  <a:lnTo>
                    <a:pt x="6860540" y="201930"/>
                  </a:lnTo>
                  <a:lnTo>
                    <a:pt x="6860540" y="2010410"/>
                  </a:lnTo>
                  <a:lnTo>
                    <a:pt x="6841490" y="2010410"/>
                  </a:lnTo>
                  <a:lnTo>
                    <a:pt x="6860540" y="2010410"/>
                  </a:lnTo>
                  <a:cubicBezTo>
                    <a:pt x="6860540" y="2122170"/>
                    <a:pt x="6768973" y="2212340"/>
                    <a:pt x="6656451" y="2212340"/>
                  </a:cubicBezTo>
                  <a:lnTo>
                    <a:pt x="6656451" y="2193290"/>
                  </a:lnTo>
                  <a:lnTo>
                    <a:pt x="6656451" y="2212340"/>
                  </a:lnTo>
                  <a:lnTo>
                    <a:pt x="204089" y="2212340"/>
                  </a:lnTo>
                  <a:lnTo>
                    <a:pt x="204089" y="2193290"/>
                  </a:lnTo>
                  <a:lnTo>
                    <a:pt x="204089" y="2212340"/>
                  </a:lnTo>
                  <a:cubicBezTo>
                    <a:pt x="91567" y="2212340"/>
                    <a:pt x="0" y="2122170"/>
                    <a:pt x="0" y="201041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10410"/>
                  </a:lnTo>
                  <a:lnTo>
                    <a:pt x="19050" y="2010410"/>
                  </a:lnTo>
                  <a:lnTo>
                    <a:pt x="38100" y="2010410"/>
                  </a:lnTo>
                  <a:cubicBezTo>
                    <a:pt x="38100" y="2100707"/>
                    <a:pt x="112268" y="2174240"/>
                    <a:pt x="204089" y="2174240"/>
                  </a:cubicBezTo>
                  <a:lnTo>
                    <a:pt x="6656451" y="2174240"/>
                  </a:lnTo>
                  <a:cubicBezTo>
                    <a:pt x="6748399" y="2174240"/>
                    <a:pt x="6822440" y="2100707"/>
                    <a:pt x="6822440" y="2010410"/>
                  </a:cubicBezTo>
                  <a:lnTo>
                    <a:pt x="6822440" y="201930"/>
                  </a:lnTo>
                  <a:cubicBezTo>
                    <a:pt x="6822440" y="111633"/>
                    <a:pt x="6748272" y="38100"/>
                    <a:pt x="6656451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79279" y="3812829"/>
            <a:ext cx="114300" cy="1630709"/>
            <a:chOff x="0" y="0"/>
            <a:chExt cx="152400" cy="21742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2174367"/>
            </a:xfrm>
            <a:custGeom>
              <a:avLst/>
              <a:gdLst/>
              <a:ahLst/>
              <a:cxnLst/>
              <a:rect r="r" b="b" t="t" l="l"/>
              <a:pathLst>
                <a:path h="2174367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122043"/>
                  </a:lnTo>
                  <a:cubicBezTo>
                    <a:pt x="152400" y="2150872"/>
                    <a:pt x="129032" y="2174367"/>
                    <a:pt x="100076" y="2174367"/>
                  </a:cubicBezTo>
                  <a:lnTo>
                    <a:pt x="52324" y="2174367"/>
                  </a:lnTo>
                  <a:cubicBezTo>
                    <a:pt x="23495" y="2174367"/>
                    <a:pt x="0" y="2150999"/>
                    <a:pt x="0" y="2122043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83501" y="4093216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83501" y="4666212"/>
            <a:ext cx="4451299" cy="48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Malicious file uploads allowed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51379" y="3798541"/>
            <a:ext cx="5145586" cy="1659284"/>
            <a:chOff x="0" y="0"/>
            <a:chExt cx="6860781" cy="22123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050" y="19050"/>
              <a:ext cx="6822694" cy="2174240"/>
            </a:xfrm>
            <a:custGeom>
              <a:avLst/>
              <a:gdLst/>
              <a:ahLst/>
              <a:cxnLst/>
              <a:rect r="r" b="b" t="t" l="l"/>
              <a:pathLst>
                <a:path h="2174240" w="6822694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6637655" y="0"/>
                  </a:lnTo>
                  <a:cubicBezTo>
                    <a:pt x="6739890" y="0"/>
                    <a:pt x="6822694" y="81915"/>
                    <a:pt x="6822694" y="182880"/>
                  </a:cubicBezTo>
                  <a:lnTo>
                    <a:pt x="6822694" y="1991360"/>
                  </a:lnTo>
                  <a:cubicBezTo>
                    <a:pt x="6822694" y="2092325"/>
                    <a:pt x="6739890" y="2174240"/>
                    <a:pt x="6637655" y="2174240"/>
                  </a:cubicBezTo>
                  <a:lnTo>
                    <a:pt x="185039" y="2174240"/>
                  </a:lnTo>
                  <a:cubicBezTo>
                    <a:pt x="82804" y="2174240"/>
                    <a:pt x="0" y="2092325"/>
                    <a:pt x="0" y="1991360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60794" cy="2212340"/>
            </a:xfrm>
            <a:custGeom>
              <a:avLst/>
              <a:gdLst/>
              <a:ahLst/>
              <a:cxnLst/>
              <a:rect r="r" b="b" t="t" l="l"/>
              <a:pathLst>
                <a:path h="2212340" w="6860794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6656705" y="0"/>
                  </a:lnTo>
                  <a:lnTo>
                    <a:pt x="6656705" y="19050"/>
                  </a:lnTo>
                  <a:lnTo>
                    <a:pt x="6656705" y="0"/>
                  </a:lnTo>
                  <a:cubicBezTo>
                    <a:pt x="6769227" y="0"/>
                    <a:pt x="6860794" y="90170"/>
                    <a:pt x="6860794" y="201930"/>
                  </a:cubicBezTo>
                  <a:lnTo>
                    <a:pt x="6841744" y="201930"/>
                  </a:lnTo>
                  <a:lnTo>
                    <a:pt x="6860794" y="201930"/>
                  </a:lnTo>
                  <a:lnTo>
                    <a:pt x="6860794" y="2010410"/>
                  </a:lnTo>
                  <a:lnTo>
                    <a:pt x="6841744" y="2010410"/>
                  </a:lnTo>
                  <a:lnTo>
                    <a:pt x="6860794" y="2010410"/>
                  </a:lnTo>
                  <a:cubicBezTo>
                    <a:pt x="6860794" y="2122170"/>
                    <a:pt x="6769227" y="2212340"/>
                    <a:pt x="6656705" y="2212340"/>
                  </a:cubicBezTo>
                  <a:lnTo>
                    <a:pt x="6656705" y="2193290"/>
                  </a:lnTo>
                  <a:lnTo>
                    <a:pt x="6656705" y="2212340"/>
                  </a:lnTo>
                  <a:lnTo>
                    <a:pt x="204089" y="2212340"/>
                  </a:lnTo>
                  <a:lnTo>
                    <a:pt x="204089" y="2193290"/>
                  </a:lnTo>
                  <a:lnTo>
                    <a:pt x="204089" y="2212340"/>
                  </a:lnTo>
                  <a:cubicBezTo>
                    <a:pt x="91567" y="2212340"/>
                    <a:pt x="0" y="2122170"/>
                    <a:pt x="0" y="201041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10410"/>
                  </a:lnTo>
                  <a:lnTo>
                    <a:pt x="19050" y="2010410"/>
                  </a:lnTo>
                  <a:lnTo>
                    <a:pt x="38100" y="2010410"/>
                  </a:lnTo>
                  <a:cubicBezTo>
                    <a:pt x="38100" y="2100707"/>
                    <a:pt x="112268" y="2174240"/>
                    <a:pt x="204089" y="2174240"/>
                  </a:cubicBezTo>
                  <a:lnTo>
                    <a:pt x="6656705" y="2174240"/>
                  </a:lnTo>
                  <a:cubicBezTo>
                    <a:pt x="6748653" y="2174240"/>
                    <a:pt x="6822694" y="2100707"/>
                    <a:pt x="6822694" y="2010410"/>
                  </a:cubicBezTo>
                  <a:lnTo>
                    <a:pt x="6822694" y="201930"/>
                  </a:lnTo>
                  <a:cubicBezTo>
                    <a:pt x="6822694" y="111633"/>
                    <a:pt x="6748526" y="38100"/>
                    <a:pt x="6656705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37091" y="3812829"/>
            <a:ext cx="114300" cy="1630709"/>
            <a:chOff x="0" y="0"/>
            <a:chExt cx="152400" cy="21742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2174367"/>
            </a:xfrm>
            <a:custGeom>
              <a:avLst/>
              <a:gdLst/>
              <a:ahLst/>
              <a:cxnLst/>
              <a:rect r="r" b="b" t="t" l="l"/>
              <a:pathLst>
                <a:path h="2174367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122043"/>
                  </a:lnTo>
                  <a:cubicBezTo>
                    <a:pt x="152400" y="2150872"/>
                    <a:pt x="129032" y="2174367"/>
                    <a:pt x="100076" y="2174367"/>
                  </a:cubicBezTo>
                  <a:lnTo>
                    <a:pt x="52324" y="2174367"/>
                  </a:lnTo>
                  <a:cubicBezTo>
                    <a:pt x="23495" y="2174367"/>
                    <a:pt x="0" y="2150999"/>
                    <a:pt x="0" y="2122043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41313" y="4093216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1313" y="4666212"/>
            <a:ext cx="4451452" cy="48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Code execution and backend abuse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93566" y="5670204"/>
            <a:ext cx="5145434" cy="2060972"/>
            <a:chOff x="0" y="0"/>
            <a:chExt cx="6860578" cy="27479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6822440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440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0540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540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79279" y="5684491"/>
            <a:ext cx="114300" cy="2032397"/>
            <a:chOff x="0" y="0"/>
            <a:chExt cx="152400" cy="27098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283501" y="5964879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83501" y="6537874"/>
            <a:ext cx="4451299" cy="48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Over-permissive bucket policies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51379" y="5670204"/>
            <a:ext cx="5145586" cy="2060972"/>
            <a:chOff x="0" y="0"/>
            <a:chExt cx="6860781" cy="27479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6822694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694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60794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794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37091" y="5684491"/>
            <a:ext cx="114300" cy="2032397"/>
            <a:chOff x="0" y="0"/>
            <a:chExt cx="152400" cy="27098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641313" y="5964879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41313" y="6537874"/>
            <a:ext cx="4451452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Restrict upload permissions; validate file inputs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07854" y="7987903"/>
            <a:ext cx="10474823" cy="1055484"/>
            <a:chOff x="0" y="0"/>
            <a:chExt cx="13966431" cy="14073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66444" cy="1407414"/>
            </a:xfrm>
            <a:custGeom>
              <a:avLst/>
              <a:gdLst/>
              <a:ahLst/>
              <a:cxnLst/>
              <a:rect r="r" b="b" t="t" l="l"/>
              <a:pathLst>
                <a:path h="1407414" w="13966444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3914120" y="0"/>
                  </a:lnTo>
                  <a:cubicBezTo>
                    <a:pt x="13942949" y="0"/>
                    <a:pt x="13966444" y="23368"/>
                    <a:pt x="13966444" y="52324"/>
                  </a:cubicBezTo>
                  <a:lnTo>
                    <a:pt x="13966444" y="1355090"/>
                  </a:lnTo>
                  <a:cubicBezTo>
                    <a:pt x="13966444" y="1383919"/>
                    <a:pt x="13943076" y="1407414"/>
                    <a:pt x="13914120" y="1407414"/>
                  </a:cubicBezTo>
                  <a:lnTo>
                    <a:pt x="52324" y="1407414"/>
                  </a:lnTo>
                  <a:cubicBezTo>
                    <a:pt x="23495" y="1407414"/>
                    <a:pt x="0" y="1384046"/>
                    <a:pt x="0" y="1355090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69201" y="8390630"/>
            <a:ext cx="326679" cy="261347"/>
            <a:chOff x="0" y="0"/>
            <a:chExt cx="435572" cy="348463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435610" cy="348488"/>
            </a:xfrm>
            <a:custGeom>
              <a:avLst/>
              <a:gdLst/>
              <a:ahLst/>
              <a:cxnLst/>
              <a:rect r="r" b="b" t="t" l="l"/>
              <a:pathLst>
                <a:path h="348488" w="435610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t="0" r="-361" b="7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757217" y="8208464"/>
            <a:ext cx="9364113" cy="48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Cloud misconfigurations are a major attack vector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695" y="771677"/>
            <a:ext cx="1462383" cy="478041"/>
            <a:chOff x="0" y="0"/>
            <a:chExt cx="1949844" cy="637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9831" cy="637287"/>
            </a:xfrm>
            <a:custGeom>
              <a:avLst/>
              <a:gdLst/>
              <a:ahLst/>
              <a:cxnLst/>
              <a:rect r="r" b="b" t="t" l="l"/>
              <a:pathLst>
                <a:path h="637287" w="1949831">
                  <a:moveTo>
                    <a:pt x="0" y="41783"/>
                  </a:moveTo>
                  <a:cubicBezTo>
                    <a:pt x="0" y="18669"/>
                    <a:pt x="18669" y="0"/>
                    <a:pt x="41783" y="0"/>
                  </a:cubicBezTo>
                  <a:lnTo>
                    <a:pt x="1908048" y="0"/>
                  </a:lnTo>
                  <a:cubicBezTo>
                    <a:pt x="1931162" y="0"/>
                    <a:pt x="1949831" y="18669"/>
                    <a:pt x="1949831" y="41783"/>
                  </a:cubicBezTo>
                  <a:lnTo>
                    <a:pt x="1949831" y="595503"/>
                  </a:lnTo>
                  <a:cubicBezTo>
                    <a:pt x="1949831" y="618617"/>
                    <a:pt x="1931162" y="637286"/>
                    <a:pt x="1908048" y="637286"/>
                  </a:cubicBezTo>
                  <a:lnTo>
                    <a:pt x="41783" y="637286"/>
                  </a:lnTo>
                  <a:cubicBezTo>
                    <a:pt x="18669" y="637413"/>
                    <a:pt x="0" y="618617"/>
                    <a:pt x="0" y="595503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1410" y="802329"/>
            <a:ext cx="1148953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695" y="1326947"/>
            <a:ext cx="16458609" cy="165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Broken Access Control: Unauthorized Admin Access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695" y="3754936"/>
            <a:ext cx="5346059" cy="5346059"/>
            <a:chOff x="0" y="0"/>
            <a:chExt cx="7128078" cy="712807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128129" cy="7128129"/>
            </a:xfrm>
            <a:custGeom>
              <a:avLst/>
              <a:gdLst/>
              <a:ahLst/>
              <a:cxnLst/>
              <a:rect r="r" b="b" t="t" l="l"/>
              <a:pathLst>
                <a:path h="7128129" w="7128129">
                  <a:moveTo>
                    <a:pt x="0" y="0"/>
                  </a:moveTo>
                  <a:lnTo>
                    <a:pt x="7128129" y="0"/>
                  </a:lnTo>
                  <a:lnTo>
                    <a:pt x="7128129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93566" y="3597621"/>
            <a:ext cx="5145434" cy="2060972"/>
            <a:chOff x="0" y="0"/>
            <a:chExt cx="6860578" cy="27479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6822440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440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0540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540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79279" y="3611909"/>
            <a:ext cx="114300" cy="2032397"/>
            <a:chOff x="0" y="0"/>
            <a:chExt cx="152400" cy="27098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83501" y="3892306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83501" y="4465291"/>
            <a:ext cx="4451299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Regular users can call admin API endpoints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51379" y="3597621"/>
            <a:ext cx="5145586" cy="2060972"/>
            <a:chOff x="0" y="0"/>
            <a:chExt cx="6860781" cy="27479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050" y="19050"/>
              <a:ext cx="6822694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694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60794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794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37091" y="3611909"/>
            <a:ext cx="114300" cy="2032397"/>
            <a:chOff x="0" y="0"/>
            <a:chExt cx="152400" cy="27098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41313" y="3892306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1313" y="4465291"/>
            <a:ext cx="4451452" cy="48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Modify orders without payment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93566" y="5870972"/>
            <a:ext cx="5145434" cy="2060972"/>
            <a:chOff x="0" y="0"/>
            <a:chExt cx="6860578" cy="27479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6822440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440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0540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540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79279" y="5885259"/>
            <a:ext cx="114300" cy="2032397"/>
            <a:chOff x="0" y="0"/>
            <a:chExt cx="152400" cy="27098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283501" y="6165647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83501" y="6738642"/>
            <a:ext cx="4451299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Missing authorization checks on endpoints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51379" y="5870972"/>
            <a:ext cx="5145586" cy="2060972"/>
            <a:chOff x="0" y="0"/>
            <a:chExt cx="6860781" cy="27479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6822694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694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60794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794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37091" y="5885259"/>
            <a:ext cx="114300" cy="2032397"/>
            <a:chOff x="0" y="0"/>
            <a:chExt cx="152400" cy="27098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641313" y="6165647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41313" y="6738642"/>
            <a:ext cx="4451452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Implement Role-Based Access Control (RBAC)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07854" y="8188671"/>
            <a:ext cx="10474823" cy="1055484"/>
            <a:chOff x="0" y="0"/>
            <a:chExt cx="13966431" cy="14073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66444" cy="1407414"/>
            </a:xfrm>
            <a:custGeom>
              <a:avLst/>
              <a:gdLst/>
              <a:ahLst/>
              <a:cxnLst/>
              <a:rect r="r" b="b" t="t" l="l"/>
              <a:pathLst>
                <a:path h="1407414" w="13966444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3914120" y="0"/>
                  </a:lnTo>
                  <a:cubicBezTo>
                    <a:pt x="13942949" y="0"/>
                    <a:pt x="13966444" y="23368"/>
                    <a:pt x="13966444" y="52324"/>
                  </a:cubicBezTo>
                  <a:lnTo>
                    <a:pt x="13966444" y="1355090"/>
                  </a:lnTo>
                  <a:cubicBezTo>
                    <a:pt x="13966444" y="1383919"/>
                    <a:pt x="13943076" y="1407414"/>
                    <a:pt x="13914120" y="1407414"/>
                  </a:cubicBezTo>
                  <a:lnTo>
                    <a:pt x="52324" y="1407414"/>
                  </a:lnTo>
                  <a:cubicBezTo>
                    <a:pt x="23495" y="1407414"/>
                    <a:pt x="0" y="1384046"/>
                    <a:pt x="0" y="1355090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69201" y="8591398"/>
            <a:ext cx="326679" cy="261347"/>
            <a:chOff x="0" y="0"/>
            <a:chExt cx="435572" cy="348463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435610" cy="348488"/>
            </a:xfrm>
            <a:custGeom>
              <a:avLst/>
              <a:gdLst/>
              <a:ahLst/>
              <a:cxnLst/>
              <a:rect r="r" b="b" t="t" l="l"/>
              <a:pathLst>
                <a:path h="348488" w="435610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t="0" r="-361" b="7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757217" y="8409232"/>
            <a:ext cx="9364113" cy="48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Always enforce authorization on every request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6760" y="767505"/>
            <a:ext cx="1570730" cy="521646"/>
            <a:chOff x="0" y="0"/>
            <a:chExt cx="2094306" cy="695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357" cy="695579"/>
            </a:xfrm>
            <a:custGeom>
              <a:avLst/>
              <a:gdLst/>
              <a:ahLst/>
              <a:cxnLst/>
              <a:rect r="r" b="b" t="t" l="l"/>
              <a:pathLst>
                <a:path h="695579" w="2094357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2049653" y="0"/>
                  </a:lnTo>
                  <a:cubicBezTo>
                    <a:pt x="2074291" y="0"/>
                    <a:pt x="2094357" y="19939"/>
                    <a:pt x="2094357" y="44704"/>
                  </a:cubicBezTo>
                  <a:lnTo>
                    <a:pt x="2094357" y="650875"/>
                  </a:lnTo>
                  <a:cubicBezTo>
                    <a:pt x="2094357" y="675513"/>
                    <a:pt x="2074418" y="695579"/>
                    <a:pt x="2049653" y="695579"/>
                  </a:cubicBezTo>
                  <a:lnTo>
                    <a:pt x="44704" y="695579"/>
                  </a:lnTo>
                  <a:cubicBezTo>
                    <a:pt x="19939" y="695579"/>
                    <a:pt x="0" y="675513"/>
                    <a:pt x="0" y="650875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4191" y="784469"/>
            <a:ext cx="1235869" cy="4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6760" y="1360884"/>
            <a:ext cx="14292558" cy="91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Denial of Service (DoS): No Rate Limiting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6760" y="3464719"/>
            <a:ext cx="5274469" cy="5274469"/>
            <a:chOff x="0" y="0"/>
            <a:chExt cx="7032625" cy="703262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32625" cy="7032625"/>
            </a:xfrm>
            <a:custGeom>
              <a:avLst/>
              <a:gdLst/>
              <a:ahLst/>
              <a:cxnLst/>
              <a:rect r="r" b="b" t="t" l="l"/>
              <a:pathLst>
                <a:path h="7032625" w="7032625">
                  <a:moveTo>
                    <a:pt x="0" y="0"/>
                  </a:moveTo>
                  <a:lnTo>
                    <a:pt x="7032625" y="0"/>
                  </a:lnTo>
                  <a:lnTo>
                    <a:pt x="7032625" y="7032625"/>
                  </a:lnTo>
                  <a:lnTo>
                    <a:pt x="0" y="7032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22446" y="2973143"/>
            <a:ext cx="5090217" cy="2269036"/>
            <a:chOff x="0" y="0"/>
            <a:chExt cx="6786956" cy="30253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736207" cy="2974594"/>
            </a:xfrm>
            <a:custGeom>
              <a:avLst/>
              <a:gdLst/>
              <a:ahLst/>
              <a:cxnLst/>
              <a:rect r="r" b="b" t="t" l="l"/>
              <a:pathLst>
                <a:path h="2974594" w="6736207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081" y="0"/>
                  </a:lnTo>
                  <a:cubicBezTo>
                    <a:pt x="6625972" y="0"/>
                    <a:pt x="6736207" y="109220"/>
                    <a:pt x="6736207" y="243840"/>
                  </a:cubicBezTo>
                  <a:lnTo>
                    <a:pt x="6736207" y="2730754"/>
                  </a:lnTo>
                  <a:cubicBezTo>
                    <a:pt x="6736207" y="2865374"/>
                    <a:pt x="6625972" y="2974594"/>
                    <a:pt x="6490081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87007" cy="3025394"/>
            </a:xfrm>
            <a:custGeom>
              <a:avLst/>
              <a:gdLst/>
              <a:ahLst/>
              <a:cxnLst/>
              <a:rect r="r" b="b" t="t" l="l"/>
              <a:pathLst>
                <a:path h="3025394" w="6787007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481" y="0"/>
                  </a:lnTo>
                  <a:lnTo>
                    <a:pt x="6515481" y="25400"/>
                  </a:lnTo>
                  <a:lnTo>
                    <a:pt x="6515481" y="0"/>
                  </a:lnTo>
                  <a:cubicBezTo>
                    <a:pt x="6665214" y="0"/>
                    <a:pt x="6787007" y="120269"/>
                    <a:pt x="6787007" y="269240"/>
                  </a:cubicBezTo>
                  <a:lnTo>
                    <a:pt x="6761607" y="269240"/>
                  </a:lnTo>
                  <a:lnTo>
                    <a:pt x="6787007" y="269240"/>
                  </a:lnTo>
                  <a:lnTo>
                    <a:pt x="6787007" y="2756154"/>
                  </a:lnTo>
                  <a:lnTo>
                    <a:pt x="6761607" y="2756154"/>
                  </a:lnTo>
                  <a:lnTo>
                    <a:pt x="6787007" y="2756154"/>
                  </a:lnTo>
                  <a:cubicBezTo>
                    <a:pt x="6787007" y="2905125"/>
                    <a:pt x="6665214" y="3025394"/>
                    <a:pt x="6515481" y="3025394"/>
                  </a:cubicBezTo>
                  <a:lnTo>
                    <a:pt x="6515481" y="2999994"/>
                  </a:lnTo>
                  <a:lnTo>
                    <a:pt x="6515481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481" y="2974594"/>
                  </a:lnTo>
                  <a:cubicBezTo>
                    <a:pt x="6637655" y="2974594"/>
                    <a:pt x="6736207" y="2876550"/>
                    <a:pt x="6736207" y="2756154"/>
                  </a:cubicBezTo>
                  <a:lnTo>
                    <a:pt x="6736207" y="269240"/>
                  </a:lnTo>
                  <a:cubicBezTo>
                    <a:pt x="6736207" y="148844"/>
                    <a:pt x="6637655" y="50800"/>
                    <a:pt x="6515481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903396" y="2992193"/>
            <a:ext cx="152400" cy="2230936"/>
            <a:chOff x="0" y="0"/>
            <a:chExt cx="203200" cy="29745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2974594"/>
            </a:xfrm>
            <a:custGeom>
              <a:avLst/>
              <a:gdLst/>
              <a:ahLst/>
              <a:cxnLst/>
              <a:rect r="r" b="b" t="t" l="l"/>
              <a:pathLst>
                <a:path h="2974594" w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372941" y="3290297"/>
            <a:ext cx="3488684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72941" y="3934416"/>
            <a:ext cx="430350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Unlimited request flooding allowed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49302" y="2973143"/>
            <a:ext cx="5090370" cy="2269036"/>
            <a:chOff x="0" y="0"/>
            <a:chExt cx="6787159" cy="30253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6736334" cy="2974594"/>
            </a:xfrm>
            <a:custGeom>
              <a:avLst/>
              <a:gdLst/>
              <a:ahLst/>
              <a:cxnLst/>
              <a:rect r="r" b="b" t="t" l="l"/>
              <a:pathLst>
                <a:path h="2974594" w="673633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208" y="0"/>
                  </a:lnTo>
                  <a:cubicBezTo>
                    <a:pt x="6626098" y="0"/>
                    <a:pt x="6736334" y="109220"/>
                    <a:pt x="6736334" y="243840"/>
                  </a:cubicBezTo>
                  <a:lnTo>
                    <a:pt x="6736334" y="2730754"/>
                  </a:lnTo>
                  <a:cubicBezTo>
                    <a:pt x="6736334" y="2865374"/>
                    <a:pt x="6626098" y="2974594"/>
                    <a:pt x="6490208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87134" cy="3025394"/>
            </a:xfrm>
            <a:custGeom>
              <a:avLst/>
              <a:gdLst/>
              <a:ahLst/>
              <a:cxnLst/>
              <a:rect r="r" b="b" t="t" l="l"/>
              <a:pathLst>
                <a:path h="3025394" w="678713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608" y="0"/>
                  </a:lnTo>
                  <a:lnTo>
                    <a:pt x="6515608" y="25400"/>
                  </a:lnTo>
                  <a:lnTo>
                    <a:pt x="6515608" y="0"/>
                  </a:lnTo>
                  <a:cubicBezTo>
                    <a:pt x="6665340" y="0"/>
                    <a:pt x="6787134" y="120269"/>
                    <a:pt x="6787134" y="269240"/>
                  </a:cubicBezTo>
                  <a:lnTo>
                    <a:pt x="6761734" y="269240"/>
                  </a:lnTo>
                  <a:lnTo>
                    <a:pt x="6787134" y="269240"/>
                  </a:lnTo>
                  <a:lnTo>
                    <a:pt x="6787134" y="2756154"/>
                  </a:lnTo>
                  <a:lnTo>
                    <a:pt x="6761734" y="2756154"/>
                  </a:lnTo>
                  <a:lnTo>
                    <a:pt x="6787134" y="2756154"/>
                  </a:lnTo>
                  <a:cubicBezTo>
                    <a:pt x="6787134" y="2905125"/>
                    <a:pt x="6665340" y="3025394"/>
                    <a:pt x="6515608" y="3025394"/>
                  </a:cubicBezTo>
                  <a:lnTo>
                    <a:pt x="6515608" y="2999994"/>
                  </a:lnTo>
                  <a:lnTo>
                    <a:pt x="6515608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608" y="2974594"/>
                  </a:lnTo>
                  <a:cubicBezTo>
                    <a:pt x="6637782" y="2974594"/>
                    <a:pt x="6736334" y="2876550"/>
                    <a:pt x="6736334" y="2756154"/>
                  </a:cubicBezTo>
                  <a:lnTo>
                    <a:pt x="6736334" y="269240"/>
                  </a:lnTo>
                  <a:cubicBezTo>
                    <a:pt x="6736334" y="148844"/>
                    <a:pt x="6637782" y="50800"/>
                    <a:pt x="651560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30252" y="2992193"/>
            <a:ext cx="152400" cy="2230936"/>
            <a:chOff x="0" y="0"/>
            <a:chExt cx="203200" cy="29745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974594"/>
            </a:xfrm>
            <a:custGeom>
              <a:avLst/>
              <a:gdLst/>
              <a:ahLst/>
              <a:cxnLst/>
              <a:rect r="r" b="b" t="t" l="l"/>
              <a:pathLst>
                <a:path h="2974594" w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99797" y="3290297"/>
            <a:ext cx="3488684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99797" y="3934416"/>
            <a:ext cx="430366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Service becomes unavailable to legitimate users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922446" y="5478809"/>
            <a:ext cx="5090217" cy="2269036"/>
            <a:chOff x="0" y="0"/>
            <a:chExt cx="6786956" cy="30253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6736207" cy="2974594"/>
            </a:xfrm>
            <a:custGeom>
              <a:avLst/>
              <a:gdLst/>
              <a:ahLst/>
              <a:cxnLst/>
              <a:rect r="r" b="b" t="t" l="l"/>
              <a:pathLst>
                <a:path h="2974594" w="6736207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081" y="0"/>
                  </a:lnTo>
                  <a:cubicBezTo>
                    <a:pt x="6625972" y="0"/>
                    <a:pt x="6736207" y="109220"/>
                    <a:pt x="6736207" y="243840"/>
                  </a:cubicBezTo>
                  <a:lnTo>
                    <a:pt x="6736207" y="2730754"/>
                  </a:lnTo>
                  <a:cubicBezTo>
                    <a:pt x="6736207" y="2865374"/>
                    <a:pt x="6625972" y="2974594"/>
                    <a:pt x="6490081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87007" cy="3025394"/>
            </a:xfrm>
            <a:custGeom>
              <a:avLst/>
              <a:gdLst/>
              <a:ahLst/>
              <a:cxnLst/>
              <a:rect r="r" b="b" t="t" l="l"/>
              <a:pathLst>
                <a:path h="3025394" w="6787007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481" y="0"/>
                  </a:lnTo>
                  <a:lnTo>
                    <a:pt x="6515481" y="25400"/>
                  </a:lnTo>
                  <a:lnTo>
                    <a:pt x="6515481" y="0"/>
                  </a:lnTo>
                  <a:cubicBezTo>
                    <a:pt x="6665214" y="0"/>
                    <a:pt x="6787007" y="120269"/>
                    <a:pt x="6787007" y="269240"/>
                  </a:cubicBezTo>
                  <a:lnTo>
                    <a:pt x="6761607" y="269240"/>
                  </a:lnTo>
                  <a:lnTo>
                    <a:pt x="6787007" y="269240"/>
                  </a:lnTo>
                  <a:lnTo>
                    <a:pt x="6787007" y="2756154"/>
                  </a:lnTo>
                  <a:lnTo>
                    <a:pt x="6761607" y="2756154"/>
                  </a:lnTo>
                  <a:lnTo>
                    <a:pt x="6787007" y="2756154"/>
                  </a:lnTo>
                  <a:cubicBezTo>
                    <a:pt x="6787007" y="2905125"/>
                    <a:pt x="6665214" y="3025394"/>
                    <a:pt x="6515481" y="3025394"/>
                  </a:cubicBezTo>
                  <a:lnTo>
                    <a:pt x="6515481" y="2999994"/>
                  </a:lnTo>
                  <a:lnTo>
                    <a:pt x="6515481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481" y="2974594"/>
                  </a:lnTo>
                  <a:cubicBezTo>
                    <a:pt x="6637655" y="2974594"/>
                    <a:pt x="6736207" y="2876550"/>
                    <a:pt x="6736207" y="2756154"/>
                  </a:cubicBezTo>
                  <a:lnTo>
                    <a:pt x="6736207" y="269240"/>
                  </a:lnTo>
                  <a:cubicBezTo>
                    <a:pt x="6736207" y="148844"/>
                    <a:pt x="6637655" y="50800"/>
                    <a:pt x="6515481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03396" y="5497859"/>
            <a:ext cx="152400" cy="2230936"/>
            <a:chOff x="0" y="0"/>
            <a:chExt cx="203200" cy="29745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200" cy="2974594"/>
            </a:xfrm>
            <a:custGeom>
              <a:avLst/>
              <a:gdLst/>
              <a:ahLst/>
              <a:cxnLst/>
              <a:rect r="r" b="b" t="t" l="l"/>
              <a:pathLst>
                <a:path h="2974594" w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372941" y="5795962"/>
            <a:ext cx="3488684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72941" y="6440091"/>
            <a:ext cx="430350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No request throttling or rate limiting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49302" y="5478809"/>
            <a:ext cx="5090370" cy="2269036"/>
            <a:chOff x="0" y="0"/>
            <a:chExt cx="6787159" cy="30253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6736334" cy="2974594"/>
            </a:xfrm>
            <a:custGeom>
              <a:avLst/>
              <a:gdLst/>
              <a:ahLst/>
              <a:cxnLst/>
              <a:rect r="r" b="b" t="t" l="l"/>
              <a:pathLst>
                <a:path h="2974594" w="673633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208" y="0"/>
                  </a:lnTo>
                  <a:cubicBezTo>
                    <a:pt x="6626098" y="0"/>
                    <a:pt x="6736334" y="109220"/>
                    <a:pt x="6736334" y="243840"/>
                  </a:cubicBezTo>
                  <a:lnTo>
                    <a:pt x="6736334" y="2730754"/>
                  </a:lnTo>
                  <a:cubicBezTo>
                    <a:pt x="6736334" y="2865374"/>
                    <a:pt x="6626098" y="2974594"/>
                    <a:pt x="6490208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87134" cy="3025394"/>
            </a:xfrm>
            <a:custGeom>
              <a:avLst/>
              <a:gdLst/>
              <a:ahLst/>
              <a:cxnLst/>
              <a:rect r="r" b="b" t="t" l="l"/>
              <a:pathLst>
                <a:path h="3025394" w="678713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608" y="0"/>
                  </a:lnTo>
                  <a:lnTo>
                    <a:pt x="6515608" y="25400"/>
                  </a:lnTo>
                  <a:lnTo>
                    <a:pt x="6515608" y="0"/>
                  </a:lnTo>
                  <a:cubicBezTo>
                    <a:pt x="6665340" y="0"/>
                    <a:pt x="6787134" y="120269"/>
                    <a:pt x="6787134" y="269240"/>
                  </a:cubicBezTo>
                  <a:lnTo>
                    <a:pt x="6761734" y="269240"/>
                  </a:lnTo>
                  <a:lnTo>
                    <a:pt x="6787134" y="269240"/>
                  </a:lnTo>
                  <a:lnTo>
                    <a:pt x="6787134" y="2756154"/>
                  </a:lnTo>
                  <a:lnTo>
                    <a:pt x="6761734" y="2756154"/>
                  </a:lnTo>
                  <a:lnTo>
                    <a:pt x="6787134" y="2756154"/>
                  </a:lnTo>
                  <a:cubicBezTo>
                    <a:pt x="6787134" y="2905125"/>
                    <a:pt x="6665340" y="3025394"/>
                    <a:pt x="6515608" y="3025394"/>
                  </a:cubicBezTo>
                  <a:lnTo>
                    <a:pt x="6515608" y="2999994"/>
                  </a:lnTo>
                  <a:lnTo>
                    <a:pt x="6515608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608" y="2974594"/>
                  </a:lnTo>
                  <a:cubicBezTo>
                    <a:pt x="6637782" y="2974594"/>
                    <a:pt x="6736334" y="2876550"/>
                    <a:pt x="6736334" y="2756154"/>
                  </a:cubicBezTo>
                  <a:lnTo>
                    <a:pt x="6736334" y="269240"/>
                  </a:lnTo>
                  <a:cubicBezTo>
                    <a:pt x="6736334" y="148844"/>
                    <a:pt x="6637782" y="50800"/>
                    <a:pt x="651560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30252" y="5497859"/>
            <a:ext cx="152400" cy="2230936"/>
            <a:chOff x="0" y="0"/>
            <a:chExt cx="203200" cy="29745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3200" cy="2974594"/>
            </a:xfrm>
            <a:custGeom>
              <a:avLst/>
              <a:gdLst/>
              <a:ahLst/>
              <a:cxnLst/>
              <a:rect r="r" b="b" t="t" l="l"/>
              <a:pathLst>
                <a:path h="2974594" w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699797" y="5795962"/>
            <a:ext cx="3488684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99797" y="6440091"/>
            <a:ext cx="430366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Rate limiting, API throttling, and queuing mechanisms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41496" y="8037757"/>
            <a:ext cx="10379126" cy="1173956"/>
            <a:chOff x="0" y="0"/>
            <a:chExt cx="13838834" cy="15652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838937" cy="1565275"/>
            </a:xfrm>
            <a:custGeom>
              <a:avLst/>
              <a:gdLst/>
              <a:ahLst/>
              <a:cxnLst/>
              <a:rect r="r" b="b" t="t" l="l"/>
              <a:pathLst>
                <a:path h="1565275" w="13838937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3783056" y="0"/>
                  </a:lnTo>
                  <a:cubicBezTo>
                    <a:pt x="13813918" y="0"/>
                    <a:pt x="13838937" y="25019"/>
                    <a:pt x="13838937" y="55880"/>
                  </a:cubicBezTo>
                  <a:lnTo>
                    <a:pt x="13838937" y="1509395"/>
                  </a:lnTo>
                  <a:cubicBezTo>
                    <a:pt x="13838937" y="1540256"/>
                    <a:pt x="13813918" y="1565275"/>
                    <a:pt x="13783056" y="1565275"/>
                  </a:cubicBezTo>
                  <a:lnTo>
                    <a:pt x="55880" y="1565275"/>
                  </a:lnTo>
                  <a:cubicBezTo>
                    <a:pt x="25019" y="1565275"/>
                    <a:pt x="0" y="1540256"/>
                    <a:pt x="0" y="1509395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220541" y="8466087"/>
            <a:ext cx="348853" cy="279054"/>
            <a:chOff x="0" y="0"/>
            <a:chExt cx="465138" cy="372072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465201" cy="372110"/>
            </a:xfrm>
            <a:custGeom>
              <a:avLst/>
              <a:gdLst/>
              <a:ahLst/>
              <a:cxnLst/>
              <a:rect r="r" b="b" t="t" l="l"/>
              <a:pathLst>
                <a:path h="372110" w="465201">
                  <a:moveTo>
                    <a:pt x="0" y="0"/>
                  </a:moveTo>
                  <a:lnTo>
                    <a:pt x="465201" y="0"/>
                  </a:lnTo>
                  <a:lnTo>
                    <a:pt x="465201" y="372110"/>
                  </a:lnTo>
                  <a:lnTo>
                    <a:pt x="0" y="37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9" t="0" r="-1015" b="1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848448" y="8296427"/>
            <a:ext cx="9193111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1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Availability is part of security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695" y="771677"/>
            <a:ext cx="1438570" cy="478041"/>
            <a:chOff x="0" y="0"/>
            <a:chExt cx="1918094" cy="637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8081" cy="637287"/>
            </a:xfrm>
            <a:custGeom>
              <a:avLst/>
              <a:gdLst/>
              <a:ahLst/>
              <a:cxnLst/>
              <a:rect r="r" b="b" t="t" l="l"/>
              <a:pathLst>
                <a:path h="637287" w="1918081">
                  <a:moveTo>
                    <a:pt x="0" y="41783"/>
                  </a:moveTo>
                  <a:cubicBezTo>
                    <a:pt x="0" y="18669"/>
                    <a:pt x="18669" y="0"/>
                    <a:pt x="41783" y="0"/>
                  </a:cubicBezTo>
                  <a:lnTo>
                    <a:pt x="1876298" y="0"/>
                  </a:lnTo>
                  <a:cubicBezTo>
                    <a:pt x="1899412" y="0"/>
                    <a:pt x="1918081" y="18669"/>
                    <a:pt x="1918081" y="41783"/>
                  </a:cubicBezTo>
                  <a:lnTo>
                    <a:pt x="1918081" y="595503"/>
                  </a:lnTo>
                  <a:cubicBezTo>
                    <a:pt x="1918081" y="618617"/>
                    <a:pt x="1899412" y="637286"/>
                    <a:pt x="1876298" y="637286"/>
                  </a:cubicBezTo>
                  <a:lnTo>
                    <a:pt x="41783" y="637286"/>
                  </a:lnTo>
                  <a:cubicBezTo>
                    <a:pt x="18669" y="637413"/>
                    <a:pt x="0" y="618617"/>
                    <a:pt x="0" y="595503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1410" y="802329"/>
            <a:ext cx="1125141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695" y="1326947"/>
            <a:ext cx="16458609" cy="165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Over-Privileged Functions: Excessive IAM Permissions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695" y="3754936"/>
            <a:ext cx="5346059" cy="5346059"/>
            <a:chOff x="0" y="0"/>
            <a:chExt cx="7128078" cy="712807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128129" cy="7128129"/>
            </a:xfrm>
            <a:custGeom>
              <a:avLst/>
              <a:gdLst/>
              <a:ahLst/>
              <a:cxnLst/>
              <a:rect r="r" b="b" t="t" l="l"/>
              <a:pathLst>
                <a:path h="7128129" w="7128129">
                  <a:moveTo>
                    <a:pt x="0" y="0"/>
                  </a:moveTo>
                  <a:lnTo>
                    <a:pt x="7128129" y="0"/>
                  </a:lnTo>
                  <a:lnTo>
                    <a:pt x="7128129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93566" y="3597621"/>
            <a:ext cx="5145434" cy="2060972"/>
            <a:chOff x="0" y="0"/>
            <a:chExt cx="6860578" cy="27479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6822440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440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0540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540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79279" y="3611909"/>
            <a:ext cx="114300" cy="2032397"/>
            <a:chOff x="0" y="0"/>
            <a:chExt cx="152400" cy="27098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83501" y="3892306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83501" y="4465291"/>
            <a:ext cx="4451299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Lambda functions have more permissions than needed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51379" y="3597621"/>
            <a:ext cx="5145586" cy="2060972"/>
            <a:chOff x="0" y="0"/>
            <a:chExt cx="6860781" cy="27479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050" y="19050"/>
              <a:ext cx="6822694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694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60794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794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37091" y="3611909"/>
            <a:ext cx="114300" cy="2032397"/>
            <a:chOff x="0" y="0"/>
            <a:chExt cx="152400" cy="27098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41313" y="3892306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1313" y="4465291"/>
            <a:ext cx="4451452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Attacker gains access to additional AWS resources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93566" y="5870972"/>
            <a:ext cx="5145434" cy="2060972"/>
            <a:chOff x="0" y="0"/>
            <a:chExt cx="6860578" cy="27479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6822440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440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0540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540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79279" y="5885259"/>
            <a:ext cx="114300" cy="2032397"/>
            <a:chOff x="0" y="0"/>
            <a:chExt cx="152400" cy="27098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283501" y="6165647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83501" y="6738642"/>
            <a:ext cx="4451299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Violates the principle of least privilege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51379" y="5870972"/>
            <a:ext cx="5145586" cy="2060972"/>
            <a:chOff x="0" y="0"/>
            <a:chExt cx="6860781" cy="27479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6822694" cy="2709799"/>
            </a:xfrm>
            <a:custGeom>
              <a:avLst/>
              <a:gdLst/>
              <a:ahLst/>
              <a:cxnLst/>
              <a:rect r="r" b="b" t="t" l="l"/>
              <a:pathLst>
                <a:path h="2709799" w="6822694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60794" cy="2747899"/>
            </a:xfrm>
            <a:custGeom>
              <a:avLst/>
              <a:gdLst/>
              <a:ahLst/>
              <a:cxnLst/>
              <a:rect r="r" b="b" t="t" l="l"/>
              <a:pathLst>
                <a:path h="2747899" w="6860794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37091" y="5885259"/>
            <a:ext cx="114300" cy="2032397"/>
            <a:chOff x="0" y="0"/>
            <a:chExt cx="152400" cy="27098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400" cy="2709926"/>
            </a:xfrm>
            <a:custGeom>
              <a:avLst/>
              <a:gdLst/>
              <a:ahLst/>
              <a:cxnLst/>
              <a:rect r="r" b="b" t="t" l="l"/>
              <a:pathLst>
                <a:path h="2709926" w="152400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641313" y="6165647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41313" y="6738642"/>
            <a:ext cx="4451452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Restrict IAM roles to only the minimum required permissions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07854" y="8188671"/>
            <a:ext cx="10474823" cy="1055484"/>
            <a:chOff x="0" y="0"/>
            <a:chExt cx="13966431" cy="14073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66444" cy="1407414"/>
            </a:xfrm>
            <a:custGeom>
              <a:avLst/>
              <a:gdLst/>
              <a:ahLst/>
              <a:cxnLst/>
              <a:rect r="r" b="b" t="t" l="l"/>
              <a:pathLst>
                <a:path h="1407414" w="13966444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3914120" y="0"/>
                  </a:lnTo>
                  <a:cubicBezTo>
                    <a:pt x="13942949" y="0"/>
                    <a:pt x="13966444" y="23368"/>
                    <a:pt x="13966444" y="52324"/>
                  </a:cubicBezTo>
                  <a:lnTo>
                    <a:pt x="13966444" y="1355090"/>
                  </a:lnTo>
                  <a:cubicBezTo>
                    <a:pt x="13966444" y="1383919"/>
                    <a:pt x="13943076" y="1407414"/>
                    <a:pt x="13914120" y="1407414"/>
                  </a:cubicBezTo>
                  <a:lnTo>
                    <a:pt x="52324" y="1407414"/>
                  </a:lnTo>
                  <a:cubicBezTo>
                    <a:pt x="23495" y="1407414"/>
                    <a:pt x="0" y="1384046"/>
                    <a:pt x="0" y="1355090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69201" y="8591398"/>
            <a:ext cx="326679" cy="261347"/>
            <a:chOff x="0" y="0"/>
            <a:chExt cx="435572" cy="348463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435610" cy="348488"/>
            </a:xfrm>
            <a:custGeom>
              <a:avLst/>
              <a:gdLst/>
              <a:ahLst/>
              <a:cxnLst/>
              <a:rect r="r" b="b" t="t" l="l"/>
              <a:pathLst>
                <a:path h="348488" w="435610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t="0" r="-361" b="7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757217" y="8409232"/>
            <a:ext cx="9364113" cy="48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Least privilege is critical in cloud environments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5804" y="754561"/>
            <a:ext cx="1521466" cy="499767"/>
            <a:chOff x="0" y="0"/>
            <a:chExt cx="2028622" cy="6663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571" cy="666242"/>
            </a:xfrm>
            <a:custGeom>
              <a:avLst/>
              <a:gdLst/>
              <a:ahLst/>
              <a:cxnLst/>
              <a:rect r="r" b="b" t="t" l="l"/>
              <a:pathLst>
                <a:path h="666242" w="2028571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985391" y="0"/>
                  </a:lnTo>
                  <a:cubicBezTo>
                    <a:pt x="2009267" y="0"/>
                    <a:pt x="2028571" y="19304"/>
                    <a:pt x="2028571" y="43180"/>
                  </a:cubicBezTo>
                  <a:lnTo>
                    <a:pt x="2028571" y="623062"/>
                  </a:lnTo>
                  <a:cubicBezTo>
                    <a:pt x="2028571" y="646938"/>
                    <a:pt x="2009267" y="666242"/>
                    <a:pt x="1985391" y="666242"/>
                  </a:cubicBezTo>
                  <a:lnTo>
                    <a:pt x="43180" y="666242"/>
                  </a:lnTo>
                  <a:cubicBezTo>
                    <a:pt x="19304" y="666242"/>
                    <a:pt x="0" y="646938"/>
                    <a:pt x="0" y="623062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07872" y="768848"/>
            <a:ext cx="1197321" cy="40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804" y="1328737"/>
            <a:ext cx="12436526" cy="8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Logic Vulnerabilities: Race Condition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5804" y="3405188"/>
            <a:ext cx="5310188" cy="5310188"/>
            <a:chOff x="0" y="0"/>
            <a:chExt cx="7080250" cy="70802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80250" cy="7080250"/>
            </a:xfrm>
            <a:custGeom>
              <a:avLst/>
              <a:gdLst/>
              <a:ahLst/>
              <a:cxnLst/>
              <a:rect r="r" b="b" t="t" l="l"/>
              <a:pathLst>
                <a:path h="7080250" w="7080250">
                  <a:moveTo>
                    <a:pt x="0" y="0"/>
                  </a:moveTo>
                  <a:lnTo>
                    <a:pt x="7080250" y="0"/>
                  </a:lnTo>
                  <a:lnTo>
                    <a:pt x="7080250" y="7080250"/>
                  </a:lnTo>
                  <a:lnTo>
                    <a:pt x="0" y="708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05777" y="2858986"/>
            <a:ext cx="5122812" cy="2178691"/>
            <a:chOff x="0" y="0"/>
            <a:chExt cx="6830416" cy="29049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779641" cy="2854198"/>
            </a:xfrm>
            <a:custGeom>
              <a:avLst/>
              <a:gdLst/>
              <a:ahLst/>
              <a:cxnLst/>
              <a:rect r="r" b="b" t="t" l="l"/>
              <a:pathLst>
                <a:path h="2854198" w="6779641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30441" cy="2904998"/>
            </a:xfrm>
            <a:custGeom>
              <a:avLst/>
              <a:gdLst/>
              <a:ahLst/>
              <a:cxnLst/>
              <a:rect r="r" b="b" t="t" l="l"/>
              <a:pathLst>
                <a:path h="2904998" w="6830441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86727" y="2878036"/>
            <a:ext cx="152400" cy="2140591"/>
            <a:chOff x="0" y="0"/>
            <a:chExt cx="203200" cy="28541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2854198"/>
            </a:xfrm>
            <a:custGeom>
              <a:avLst/>
              <a:gdLst/>
              <a:ahLst/>
              <a:cxnLst/>
              <a:rect r="r" b="b" t="t" l="l"/>
              <a:pathLst>
                <a:path h="2854198" w="20320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347347" y="3167215"/>
            <a:ext cx="3377956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7347" y="3789759"/>
            <a:ext cx="4353963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Order updated before payment completes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47959" y="2858986"/>
            <a:ext cx="5122812" cy="2178691"/>
            <a:chOff x="0" y="0"/>
            <a:chExt cx="6830416" cy="29049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6779641" cy="2854198"/>
            </a:xfrm>
            <a:custGeom>
              <a:avLst/>
              <a:gdLst/>
              <a:ahLst/>
              <a:cxnLst/>
              <a:rect r="r" b="b" t="t" l="l"/>
              <a:pathLst>
                <a:path h="2854198" w="6779641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30441" cy="2904998"/>
            </a:xfrm>
            <a:custGeom>
              <a:avLst/>
              <a:gdLst/>
              <a:ahLst/>
              <a:cxnLst/>
              <a:rect r="r" b="b" t="t" l="l"/>
              <a:pathLst>
                <a:path h="2904998" w="6830441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28909" y="2878036"/>
            <a:ext cx="152400" cy="2140591"/>
            <a:chOff x="0" y="0"/>
            <a:chExt cx="203200" cy="28541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854198"/>
            </a:xfrm>
            <a:custGeom>
              <a:avLst/>
              <a:gdLst/>
              <a:ahLst/>
              <a:cxnLst/>
              <a:rect r="r" b="b" t="t" l="l"/>
              <a:pathLst>
                <a:path h="2854198" w="20320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89529" y="3167215"/>
            <a:ext cx="3377956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89529" y="3789759"/>
            <a:ext cx="4353963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Fraudulent transactions processed without valid payment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905777" y="5257057"/>
            <a:ext cx="5122812" cy="2178691"/>
            <a:chOff x="0" y="0"/>
            <a:chExt cx="6830416" cy="29049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6779641" cy="2854198"/>
            </a:xfrm>
            <a:custGeom>
              <a:avLst/>
              <a:gdLst/>
              <a:ahLst/>
              <a:cxnLst/>
              <a:rect r="r" b="b" t="t" l="l"/>
              <a:pathLst>
                <a:path h="2854198" w="6779641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30441" cy="2904998"/>
            </a:xfrm>
            <a:custGeom>
              <a:avLst/>
              <a:gdLst/>
              <a:ahLst/>
              <a:cxnLst/>
              <a:rect r="r" b="b" t="t" l="l"/>
              <a:pathLst>
                <a:path h="2904998" w="6830441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86727" y="5276107"/>
            <a:ext cx="152400" cy="2140591"/>
            <a:chOff x="0" y="0"/>
            <a:chExt cx="203200" cy="28541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200" cy="2854198"/>
            </a:xfrm>
            <a:custGeom>
              <a:avLst/>
              <a:gdLst/>
              <a:ahLst/>
              <a:cxnLst/>
              <a:rect r="r" b="b" t="t" l="l"/>
              <a:pathLst>
                <a:path h="2854198" w="20320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347347" y="5565277"/>
            <a:ext cx="3377956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47347" y="6187831"/>
            <a:ext cx="4353963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Poor workflow sequencing in the order process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47959" y="5257057"/>
            <a:ext cx="5122812" cy="2178691"/>
            <a:chOff x="0" y="0"/>
            <a:chExt cx="6830416" cy="29049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6779641" cy="2854198"/>
            </a:xfrm>
            <a:custGeom>
              <a:avLst/>
              <a:gdLst/>
              <a:ahLst/>
              <a:cxnLst/>
              <a:rect r="r" b="b" t="t" l="l"/>
              <a:pathLst>
                <a:path h="2854198" w="6779641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30441" cy="2904998"/>
            </a:xfrm>
            <a:custGeom>
              <a:avLst/>
              <a:gdLst/>
              <a:ahLst/>
              <a:cxnLst/>
              <a:rect r="r" b="b" t="t" l="l"/>
              <a:pathLst>
                <a:path h="2904998" w="6830441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28909" y="5276107"/>
            <a:ext cx="152400" cy="2140591"/>
            <a:chOff x="0" y="0"/>
            <a:chExt cx="203200" cy="28541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3200" cy="2854198"/>
            </a:xfrm>
            <a:custGeom>
              <a:avLst/>
              <a:gdLst/>
              <a:ahLst/>
              <a:cxnLst/>
              <a:rect r="r" b="b" t="t" l="l"/>
              <a:pathLst>
                <a:path h="2854198" w="20320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689529" y="5565277"/>
            <a:ext cx="3377956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89529" y="6187831"/>
            <a:ext cx="4353963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Enforce strict process flow; use locking and validation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24827" y="7706468"/>
            <a:ext cx="10426903" cy="1536059"/>
            <a:chOff x="0" y="0"/>
            <a:chExt cx="13902538" cy="20480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02564" cy="2048129"/>
            </a:xfrm>
            <a:custGeom>
              <a:avLst/>
              <a:gdLst/>
              <a:ahLst/>
              <a:cxnLst/>
              <a:rect r="r" b="b" t="t" l="l"/>
              <a:pathLst>
                <a:path h="2048129" w="13902564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3848462" y="0"/>
                  </a:lnTo>
                  <a:cubicBezTo>
                    <a:pt x="13878306" y="0"/>
                    <a:pt x="13902564" y="24257"/>
                    <a:pt x="13902564" y="54102"/>
                  </a:cubicBezTo>
                  <a:lnTo>
                    <a:pt x="13902564" y="1994027"/>
                  </a:lnTo>
                  <a:cubicBezTo>
                    <a:pt x="13902564" y="2023872"/>
                    <a:pt x="13878306" y="2048129"/>
                    <a:pt x="13848462" y="2048129"/>
                  </a:cubicBezTo>
                  <a:lnTo>
                    <a:pt x="54102" y="2048129"/>
                  </a:lnTo>
                  <a:cubicBezTo>
                    <a:pt x="24257" y="2048129"/>
                    <a:pt x="0" y="2023872"/>
                    <a:pt x="0" y="1994027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94947" y="8121853"/>
            <a:ext cx="337690" cy="270119"/>
            <a:chOff x="0" y="0"/>
            <a:chExt cx="450253" cy="360159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450215" cy="360172"/>
            </a:xfrm>
            <a:custGeom>
              <a:avLst/>
              <a:gdLst/>
              <a:ahLst/>
              <a:cxnLst/>
              <a:rect r="r" b="b" t="t" l="l"/>
              <a:pathLst>
                <a:path h="360172" w="450215">
                  <a:moveTo>
                    <a:pt x="0" y="0"/>
                  </a:moveTo>
                  <a:lnTo>
                    <a:pt x="450215" y="0"/>
                  </a:lnTo>
                  <a:lnTo>
                    <a:pt x="450215" y="360172"/>
                  </a:lnTo>
                  <a:lnTo>
                    <a:pt x="0" y="36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" r="-8" b="-3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802766" y="7955166"/>
            <a:ext cx="9278836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12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Business logic flaws can bypass traditional security controls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150734"/>
            <a:ext cx="1594247" cy="532809"/>
            <a:chOff x="0" y="0"/>
            <a:chExt cx="2125662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5599" cy="710438"/>
            </a:xfrm>
            <a:custGeom>
              <a:avLst/>
              <a:gdLst/>
              <a:ahLst/>
              <a:cxnLst/>
              <a:rect r="r" b="b" t="t" l="l"/>
              <a:pathLst>
                <a:path h="710438" w="2125599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080260" y="0"/>
                  </a:lnTo>
                  <a:cubicBezTo>
                    <a:pt x="2105279" y="0"/>
                    <a:pt x="2125599" y="20320"/>
                    <a:pt x="2125599" y="45339"/>
                  </a:cubicBezTo>
                  <a:lnTo>
                    <a:pt x="2125599" y="665099"/>
                  </a:lnTo>
                  <a:cubicBezTo>
                    <a:pt x="2125599" y="690118"/>
                    <a:pt x="2105279" y="710438"/>
                    <a:pt x="2080260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159516"/>
            <a:ext cx="1254023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768373"/>
            <a:ext cx="9184329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Vulnerable Dependencies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493884"/>
            <a:ext cx="5256457" cy="5256457"/>
            <a:chOff x="0" y="0"/>
            <a:chExt cx="7008609" cy="700860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08622" cy="7008622"/>
            </a:xfrm>
            <a:custGeom>
              <a:avLst/>
              <a:gdLst/>
              <a:ahLst/>
              <a:cxnLst/>
              <a:rect r="r" b="b" t="t" l="l"/>
              <a:pathLst>
                <a:path h="7008622" w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7008622"/>
                  </a:lnTo>
                  <a:lnTo>
                    <a:pt x="0" y="700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30923" y="3408016"/>
            <a:ext cx="5073853" cy="2315023"/>
            <a:chOff x="0" y="0"/>
            <a:chExt cx="6765138" cy="30866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714236" cy="3035935"/>
            </a:xfrm>
            <a:custGeom>
              <a:avLst/>
              <a:gdLst/>
              <a:ahLst/>
              <a:cxnLst/>
              <a:rect r="r" b="b" t="t" l="l"/>
              <a:pathLst>
                <a:path h="3035935" w="6714236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237" y="0"/>
                  </a:lnTo>
                  <a:cubicBezTo>
                    <a:pt x="6604127" y="0"/>
                    <a:pt x="6714236" y="109220"/>
                    <a:pt x="6714236" y="243840"/>
                  </a:cubicBezTo>
                  <a:lnTo>
                    <a:pt x="6714236" y="2792095"/>
                  </a:lnTo>
                  <a:cubicBezTo>
                    <a:pt x="6714236" y="2926715"/>
                    <a:pt x="6604127" y="3035935"/>
                    <a:pt x="6468237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5036" cy="3086735"/>
            </a:xfrm>
            <a:custGeom>
              <a:avLst/>
              <a:gdLst/>
              <a:ahLst/>
              <a:cxnLst/>
              <a:rect r="r" b="b" t="t" l="l"/>
              <a:pathLst>
                <a:path h="3086735" w="6765036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637" y="0"/>
                  </a:lnTo>
                  <a:lnTo>
                    <a:pt x="6493637" y="25400"/>
                  </a:lnTo>
                  <a:lnTo>
                    <a:pt x="6493637" y="0"/>
                  </a:lnTo>
                  <a:cubicBezTo>
                    <a:pt x="6643370" y="0"/>
                    <a:pt x="6765036" y="120269"/>
                    <a:pt x="6765036" y="269240"/>
                  </a:cubicBezTo>
                  <a:lnTo>
                    <a:pt x="6739636" y="269240"/>
                  </a:lnTo>
                  <a:lnTo>
                    <a:pt x="6765036" y="269240"/>
                  </a:lnTo>
                  <a:lnTo>
                    <a:pt x="6765036" y="2817495"/>
                  </a:lnTo>
                  <a:lnTo>
                    <a:pt x="6739636" y="2817495"/>
                  </a:lnTo>
                  <a:lnTo>
                    <a:pt x="6765036" y="2817495"/>
                  </a:lnTo>
                  <a:cubicBezTo>
                    <a:pt x="6765036" y="2966466"/>
                    <a:pt x="6643243" y="3086735"/>
                    <a:pt x="6493637" y="3086735"/>
                  </a:cubicBezTo>
                  <a:lnTo>
                    <a:pt x="6493637" y="3061335"/>
                  </a:lnTo>
                  <a:lnTo>
                    <a:pt x="6493637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637" y="3035935"/>
                  </a:lnTo>
                  <a:cubicBezTo>
                    <a:pt x="6615684" y="3035935"/>
                    <a:pt x="6714236" y="2937891"/>
                    <a:pt x="6714236" y="2817495"/>
                  </a:cubicBezTo>
                  <a:lnTo>
                    <a:pt x="6714236" y="269240"/>
                  </a:lnTo>
                  <a:cubicBezTo>
                    <a:pt x="6714236" y="148844"/>
                    <a:pt x="6615684" y="50800"/>
                    <a:pt x="6493637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911873" y="3427066"/>
            <a:ext cx="152400" cy="2276923"/>
            <a:chOff x="0" y="0"/>
            <a:chExt cx="203200" cy="30358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3035935"/>
            </a:xfrm>
            <a:custGeom>
              <a:avLst/>
              <a:gdLst/>
              <a:ahLst/>
              <a:cxnLst/>
              <a:rect r="r" b="b" t="t" l="l"/>
              <a:pathLst>
                <a:path h="3035935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385895" y="372962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85895" y="4379862"/>
            <a:ext cx="42782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Use of vulnerable packages (e.g., node-serialize)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50188" y="3408016"/>
            <a:ext cx="5073996" cy="2315023"/>
            <a:chOff x="0" y="0"/>
            <a:chExt cx="6765328" cy="30866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6714490" cy="3035935"/>
            </a:xfrm>
            <a:custGeom>
              <a:avLst/>
              <a:gdLst/>
              <a:ahLst/>
              <a:cxnLst/>
              <a:rect r="r" b="b" t="t" l="l"/>
              <a:pathLst>
                <a:path h="3035935" w="6714490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491" y="0"/>
                  </a:lnTo>
                  <a:cubicBezTo>
                    <a:pt x="6604381" y="0"/>
                    <a:pt x="6714490" y="109220"/>
                    <a:pt x="6714490" y="243840"/>
                  </a:cubicBezTo>
                  <a:lnTo>
                    <a:pt x="6714490" y="2792095"/>
                  </a:lnTo>
                  <a:cubicBezTo>
                    <a:pt x="6714490" y="2926715"/>
                    <a:pt x="6604381" y="3035935"/>
                    <a:pt x="6468491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65290" cy="3086735"/>
            </a:xfrm>
            <a:custGeom>
              <a:avLst/>
              <a:gdLst/>
              <a:ahLst/>
              <a:cxnLst/>
              <a:rect r="r" b="b" t="t" l="l"/>
              <a:pathLst>
                <a:path h="3086735" w="6765290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891" y="0"/>
                  </a:lnTo>
                  <a:lnTo>
                    <a:pt x="6493891" y="25400"/>
                  </a:lnTo>
                  <a:lnTo>
                    <a:pt x="6493891" y="0"/>
                  </a:lnTo>
                  <a:cubicBezTo>
                    <a:pt x="6643624" y="0"/>
                    <a:pt x="6765290" y="120269"/>
                    <a:pt x="6765290" y="269240"/>
                  </a:cubicBezTo>
                  <a:lnTo>
                    <a:pt x="6739890" y="269240"/>
                  </a:lnTo>
                  <a:lnTo>
                    <a:pt x="6765290" y="269240"/>
                  </a:lnTo>
                  <a:lnTo>
                    <a:pt x="6765290" y="2817495"/>
                  </a:lnTo>
                  <a:lnTo>
                    <a:pt x="6739890" y="2817495"/>
                  </a:lnTo>
                  <a:lnTo>
                    <a:pt x="6765290" y="2817495"/>
                  </a:lnTo>
                  <a:cubicBezTo>
                    <a:pt x="6765290" y="2966466"/>
                    <a:pt x="6643497" y="3086735"/>
                    <a:pt x="6493891" y="3086735"/>
                  </a:cubicBezTo>
                  <a:lnTo>
                    <a:pt x="6493891" y="3061335"/>
                  </a:lnTo>
                  <a:lnTo>
                    <a:pt x="6493891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891" y="3035935"/>
                  </a:lnTo>
                  <a:cubicBezTo>
                    <a:pt x="6615938" y="3035935"/>
                    <a:pt x="6714490" y="2937891"/>
                    <a:pt x="6714490" y="2817495"/>
                  </a:cubicBezTo>
                  <a:lnTo>
                    <a:pt x="6714490" y="269240"/>
                  </a:lnTo>
                  <a:cubicBezTo>
                    <a:pt x="6714490" y="148844"/>
                    <a:pt x="6615938" y="50800"/>
                    <a:pt x="6493891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31138" y="3427066"/>
            <a:ext cx="152400" cy="2276923"/>
            <a:chOff x="0" y="0"/>
            <a:chExt cx="203200" cy="30358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3035935"/>
            </a:xfrm>
            <a:custGeom>
              <a:avLst/>
              <a:gdLst/>
              <a:ahLst/>
              <a:cxnLst/>
              <a:rect r="r" b="b" t="t" l="l"/>
              <a:pathLst>
                <a:path h="3035935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705159" y="372962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05159" y="4379862"/>
            <a:ext cx="427836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Hidden attack entry points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930923" y="5968451"/>
            <a:ext cx="5073853" cy="2315023"/>
            <a:chOff x="0" y="0"/>
            <a:chExt cx="6765138" cy="30866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6714236" cy="3035935"/>
            </a:xfrm>
            <a:custGeom>
              <a:avLst/>
              <a:gdLst/>
              <a:ahLst/>
              <a:cxnLst/>
              <a:rect r="r" b="b" t="t" l="l"/>
              <a:pathLst>
                <a:path h="3035935" w="6714236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237" y="0"/>
                  </a:lnTo>
                  <a:cubicBezTo>
                    <a:pt x="6604127" y="0"/>
                    <a:pt x="6714236" y="109220"/>
                    <a:pt x="6714236" y="243840"/>
                  </a:cubicBezTo>
                  <a:lnTo>
                    <a:pt x="6714236" y="2792095"/>
                  </a:lnTo>
                  <a:cubicBezTo>
                    <a:pt x="6714236" y="2926715"/>
                    <a:pt x="6604127" y="3035935"/>
                    <a:pt x="6468237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65036" cy="3086735"/>
            </a:xfrm>
            <a:custGeom>
              <a:avLst/>
              <a:gdLst/>
              <a:ahLst/>
              <a:cxnLst/>
              <a:rect r="r" b="b" t="t" l="l"/>
              <a:pathLst>
                <a:path h="3086735" w="6765036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637" y="0"/>
                  </a:lnTo>
                  <a:lnTo>
                    <a:pt x="6493637" y="25400"/>
                  </a:lnTo>
                  <a:lnTo>
                    <a:pt x="6493637" y="0"/>
                  </a:lnTo>
                  <a:cubicBezTo>
                    <a:pt x="6643370" y="0"/>
                    <a:pt x="6765036" y="120269"/>
                    <a:pt x="6765036" y="269240"/>
                  </a:cubicBezTo>
                  <a:lnTo>
                    <a:pt x="6739636" y="269240"/>
                  </a:lnTo>
                  <a:lnTo>
                    <a:pt x="6765036" y="269240"/>
                  </a:lnTo>
                  <a:lnTo>
                    <a:pt x="6765036" y="2817495"/>
                  </a:lnTo>
                  <a:lnTo>
                    <a:pt x="6739636" y="2817495"/>
                  </a:lnTo>
                  <a:lnTo>
                    <a:pt x="6765036" y="2817495"/>
                  </a:lnTo>
                  <a:cubicBezTo>
                    <a:pt x="6765036" y="2966466"/>
                    <a:pt x="6643243" y="3086735"/>
                    <a:pt x="6493637" y="3086735"/>
                  </a:cubicBezTo>
                  <a:lnTo>
                    <a:pt x="6493637" y="3061335"/>
                  </a:lnTo>
                  <a:lnTo>
                    <a:pt x="6493637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637" y="3035935"/>
                  </a:lnTo>
                  <a:cubicBezTo>
                    <a:pt x="6615684" y="3035935"/>
                    <a:pt x="6714236" y="2937891"/>
                    <a:pt x="6714236" y="2817495"/>
                  </a:cubicBezTo>
                  <a:lnTo>
                    <a:pt x="6714236" y="269240"/>
                  </a:lnTo>
                  <a:cubicBezTo>
                    <a:pt x="6714236" y="148844"/>
                    <a:pt x="6615684" y="50800"/>
                    <a:pt x="6493637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11873" y="5987501"/>
            <a:ext cx="152400" cy="2276923"/>
            <a:chOff x="0" y="0"/>
            <a:chExt cx="203200" cy="30358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200" cy="3035935"/>
            </a:xfrm>
            <a:custGeom>
              <a:avLst/>
              <a:gdLst/>
              <a:ahLst/>
              <a:cxnLst/>
              <a:rect r="r" b="b" t="t" l="l"/>
              <a:pathLst>
                <a:path h="3035935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385895" y="629007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85895" y="6940306"/>
            <a:ext cx="42782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Outdated / unsafe dependencies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50188" y="5968451"/>
            <a:ext cx="5073996" cy="2315023"/>
            <a:chOff x="0" y="0"/>
            <a:chExt cx="6765328" cy="30866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6714490" cy="3035935"/>
            </a:xfrm>
            <a:custGeom>
              <a:avLst/>
              <a:gdLst/>
              <a:ahLst/>
              <a:cxnLst/>
              <a:rect r="r" b="b" t="t" l="l"/>
              <a:pathLst>
                <a:path h="3035935" w="6714490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491" y="0"/>
                  </a:lnTo>
                  <a:cubicBezTo>
                    <a:pt x="6604381" y="0"/>
                    <a:pt x="6714490" y="109220"/>
                    <a:pt x="6714490" y="243840"/>
                  </a:cubicBezTo>
                  <a:lnTo>
                    <a:pt x="6714490" y="2792095"/>
                  </a:lnTo>
                  <a:cubicBezTo>
                    <a:pt x="6714490" y="2926715"/>
                    <a:pt x="6604381" y="3035935"/>
                    <a:pt x="6468491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65290" cy="3086735"/>
            </a:xfrm>
            <a:custGeom>
              <a:avLst/>
              <a:gdLst/>
              <a:ahLst/>
              <a:cxnLst/>
              <a:rect r="r" b="b" t="t" l="l"/>
              <a:pathLst>
                <a:path h="3086735" w="6765290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891" y="0"/>
                  </a:lnTo>
                  <a:lnTo>
                    <a:pt x="6493891" y="25400"/>
                  </a:lnTo>
                  <a:lnTo>
                    <a:pt x="6493891" y="0"/>
                  </a:lnTo>
                  <a:cubicBezTo>
                    <a:pt x="6643624" y="0"/>
                    <a:pt x="6765290" y="120269"/>
                    <a:pt x="6765290" y="269240"/>
                  </a:cubicBezTo>
                  <a:lnTo>
                    <a:pt x="6739890" y="269240"/>
                  </a:lnTo>
                  <a:lnTo>
                    <a:pt x="6765290" y="269240"/>
                  </a:lnTo>
                  <a:lnTo>
                    <a:pt x="6765290" y="2817495"/>
                  </a:lnTo>
                  <a:lnTo>
                    <a:pt x="6739890" y="2817495"/>
                  </a:lnTo>
                  <a:lnTo>
                    <a:pt x="6765290" y="2817495"/>
                  </a:lnTo>
                  <a:cubicBezTo>
                    <a:pt x="6765290" y="2966466"/>
                    <a:pt x="6643497" y="3086735"/>
                    <a:pt x="6493891" y="3086735"/>
                  </a:cubicBezTo>
                  <a:lnTo>
                    <a:pt x="6493891" y="3061335"/>
                  </a:lnTo>
                  <a:lnTo>
                    <a:pt x="6493891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891" y="3035935"/>
                  </a:lnTo>
                  <a:cubicBezTo>
                    <a:pt x="6615938" y="3035935"/>
                    <a:pt x="6714490" y="2937891"/>
                    <a:pt x="6714490" y="2817495"/>
                  </a:cubicBezTo>
                  <a:lnTo>
                    <a:pt x="6714490" y="269240"/>
                  </a:lnTo>
                  <a:cubicBezTo>
                    <a:pt x="6714490" y="148844"/>
                    <a:pt x="6615938" y="50800"/>
                    <a:pt x="6493891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31138" y="5987501"/>
            <a:ext cx="152400" cy="2276923"/>
            <a:chOff x="0" y="0"/>
            <a:chExt cx="203200" cy="30358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3200" cy="3035935"/>
            </a:xfrm>
            <a:custGeom>
              <a:avLst/>
              <a:gdLst/>
              <a:ahLst/>
              <a:cxnLst/>
              <a:rect r="r" b="b" t="t" l="l"/>
              <a:pathLst>
                <a:path h="3035935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705159" y="629007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05159" y="6940306"/>
            <a:ext cx="4278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Update and audit dependencies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49973" y="8488118"/>
            <a:ext cx="1035516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Key Lesson: Supply chain security matters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935686" y="8654053"/>
            <a:ext cx="312096" cy="312096"/>
            <a:chOff x="0" y="0"/>
            <a:chExt cx="416128" cy="416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6179" cy="416179"/>
            </a:xfrm>
            <a:custGeom>
              <a:avLst/>
              <a:gdLst/>
              <a:ahLst/>
              <a:cxnLst/>
              <a:rect r="r" b="b" t="t" l="l"/>
              <a:pathLst>
                <a:path h="416179" w="416179">
                  <a:moveTo>
                    <a:pt x="0" y="75819"/>
                  </a:moveTo>
                  <a:cubicBezTo>
                    <a:pt x="0" y="33909"/>
                    <a:pt x="33909" y="0"/>
                    <a:pt x="75819" y="0"/>
                  </a:cubicBezTo>
                  <a:lnTo>
                    <a:pt x="340360" y="0"/>
                  </a:lnTo>
                  <a:lnTo>
                    <a:pt x="340360" y="19050"/>
                  </a:lnTo>
                  <a:lnTo>
                    <a:pt x="340360" y="0"/>
                  </a:lnTo>
                  <a:cubicBezTo>
                    <a:pt x="382143" y="0"/>
                    <a:pt x="416179" y="33909"/>
                    <a:pt x="416179" y="75819"/>
                  </a:cubicBezTo>
                  <a:lnTo>
                    <a:pt x="397129" y="75819"/>
                  </a:lnTo>
                  <a:lnTo>
                    <a:pt x="416179" y="75819"/>
                  </a:lnTo>
                  <a:lnTo>
                    <a:pt x="416179" y="340360"/>
                  </a:lnTo>
                  <a:lnTo>
                    <a:pt x="397129" y="340360"/>
                  </a:lnTo>
                  <a:lnTo>
                    <a:pt x="416179" y="340360"/>
                  </a:lnTo>
                  <a:cubicBezTo>
                    <a:pt x="416179" y="382143"/>
                    <a:pt x="382270" y="416179"/>
                    <a:pt x="340360" y="416179"/>
                  </a:cubicBezTo>
                  <a:lnTo>
                    <a:pt x="340360" y="397129"/>
                  </a:lnTo>
                  <a:lnTo>
                    <a:pt x="340360" y="416179"/>
                  </a:lnTo>
                  <a:lnTo>
                    <a:pt x="75819" y="416179"/>
                  </a:lnTo>
                  <a:lnTo>
                    <a:pt x="75819" y="397129"/>
                  </a:lnTo>
                  <a:lnTo>
                    <a:pt x="75819" y="416179"/>
                  </a:lnTo>
                  <a:cubicBezTo>
                    <a:pt x="33909" y="416179"/>
                    <a:pt x="0" y="382143"/>
                    <a:pt x="0" y="340360"/>
                  </a:cubicBezTo>
                  <a:lnTo>
                    <a:pt x="0" y="75819"/>
                  </a:lnTo>
                  <a:lnTo>
                    <a:pt x="19050" y="75819"/>
                  </a:lnTo>
                  <a:lnTo>
                    <a:pt x="0" y="75819"/>
                  </a:lnTo>
                  <a:moveTo>
                    <a:pt x="38100" y="75819"/>
                  </a:moveTo>
                  <a:lnTo>
                    <a:pt x="38100" y="340360"/>
                  </a:lnTo>
                  <a:lnTo>
                    <a:pt x="19050" y="340360"/>
                  </a:lnTo>
                  <a:lnTo>
                    <a:pt x="38100" y="340360"/>
                  </a:lnTo>
                  <a:cubicBezTo>
                    <a:pt x="38100" y="361188"/>
                    <a:pt x="54991" y="378079"/>
                    <a:pt x="75819" y="378079"/>
                  </a:cubicBezTo>
                  <a:lnTo>
                    <a:pt x="340360" y="378079"/>
                  </a:lnTo>
                  <a:cubicBezTo>
                    <a:pt x="361188" y="378079"/>
                    <a:pt x="378079" y="361188"/>
                    <a:pt x="378079" y="340360"/>
                  </a:cubicBezTo>
                  <a:lnTo>
                    <a:pt x="378079" y="75819"/>
                  </a:lnTo>
                  <a:cubicBezTo>
                    <a:pt x="378079" y="54991"/>
                    <a:pt x="361188" y="38100"/>
                    <a:pt x="340360" y="38100"/>
                  </a:cubicBezTo>
                  <a:lnTo>
                    <a:pt x="75819" y="38100"/>
                  </a:lnTo>
                  <a:lnTo>
                    <a:pt x="75819" y="19050"/>
                  </a:lnTo>
                  <a:lnTo>
                    <a:pt x="75819" y="38100"/>
                  </a:lnTo>
                  <a:cubicBezTo>
                    <a:pt x="54991" y="38100"/>
                    <a:pt x="38100" y="54991"/>
                    <a:pt x="38100" y="75819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217562"/>
            <a:ext cx="1689649" cy="532809"/>
            <a:chOff x="0" y="0"/>
            <a:chExt cx="2252866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2853" cy="710438"/>
            </a:xfrm>
            <a:custGeom>
              <a:avLst/>
              <a:gdLst/>
              <a:ahLst/>
              <a:cxnLst/>
              <a:rect r="r" b="b" t="t" l="l"/>
              <a:pathLst>
                <a:path h="710438" w="2252853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207514" y="0"/>
                  </a:lnTo>
                  <a:cubicBezTo>
                    <a:pt x="2232533" y="0"/>
                    <a:pt x="2252853" y="20320"/>
                    <a:pt x="2252853" y="45339"/>
                  </a:cubicBezTo>
                  <a:lnTo>
                    <a:pt x="2252853" y="665099"/>
                  </a:lnTo>
                  <a:cubicBezTo>
                    <a:pt x="2252853" y="690118"/>
                    <a:pt x="2232533" y="710438"/>
                    <a:pt x="2207514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226344"/>
            <a:ext cx="1349426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835201"/>
            <a:ext cx="8131969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Unhandled Exceptions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493884"/>
            <a:ext cx="5256457" cy="5256457"/>
            <a:chOff x="0" y="0"/>
            <a:chExt cx="7008609" cy="700860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08622" cy="7008622"/>
            </a:xfrm>
            <a:custGeom>
              <a:avLst/>
              <a:gdLst/>
              <a:ahLst/>
              <a:cxnLst/>
              <a:rect r="r" b="b" t="t" l="l"/>
              <a:pathLst>
                <a:path h="7008622" w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7008622"/>
                  </a:lnTo>
                  <a:lnTo>
                    <a:pt x="0" y="700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30923" y="3634826"/>
            <a:ext cx="5073853" cy="1861395"/>
            <a:chOff x="0" y="0"/>
            <a:chExt cx="6765138" cy="24818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714236" cy="2431034"/>
            </a:xfrm>
            <a:custGeom>
              <a:avLst/>
              <a:gdLst/>
              <a:ahLst/>
              <a:cxnLst/>
              <a:rect r="r" b="b" t="t" l="l"/>
              <a:pathLst>
                <a:path h="2431034" w="6714236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6467221" y="0"/>
                  </a:lnTo>
                  <a:cubicBezTo>
                    <a:pt x="6603619" y="0"/>
                    <a:pt x="6714236" y="109220"/>
                    <a:pt x="6714236" y="243840"/>
                  </a:cubicBezTo>
                  <a:lnTo>
                    <a:pt x="6714236" y="2187194"/>
                  </a:lnTo>
                  <a:cubicBezTo>
                    <a:pt x="6714236" y="2321814"/>
                    <a:pt x="6603619" y="2431034"/>
                    <a:pt x="6467221" y="2431034"/>
                  </a:cubicBezTo>
                  <a:lnTo>
                    <a:pt x="247015" y="2431034"/>
                  </a:lnTo>
                  <a:cubicBezTo>
                    <a:pt x="110617" y="2431034"/>
                    <a:pt x="0" y="2321814"/>
                    <a:pt x="0" y="218719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5036" cy="2481834"/>
            </a:xfrm>
            <a:custGeom>
              <a:avLst/>
              <a:gdLst/>
              <a:ahLst/>
              <a:cxnLst/>
              <a:rect r="r" b="b" t="t" l="l"/>
              <a:pathLst>
                <a:path h="2481834" w="6765036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6492621" y="0"/>
                  </a:lnTo>
                  <a:lnTo>
                    <a:pt x="6492621" y="25400"/>
                  </a:lnTo>
                  <a:lnTo>
                    <a:pt x="6492621" y="0"/>
                  </a:lnTo>
                  <a:cubicBezTo>
                    <a:pt x="6642735" y="0"/>
                    <a:pt x="6765036" y="120269"/>
                    <a:pt x="6765036" y="269240"/>
                  </a:cubicBezTo>
                  <a:lnTo>
                    <a:pt x="6739636" y="269240"/>
                  </a:lnTo>
                  <a:lnTo>
                    <a:pt x="6765036" y="269240"/>
                  </a:lnTo>
                  <a:lnTo>
                    <a:pt x="6765036" y="2212594"/>
                  </a:lnTo>
                  <a:lnTo>
                    <a:pt x="6739636" y="2212594"/>
                  </a:lnTo>
                  <a:lnTo>
                    <a:pt x="6765036" y="2212594"/>
                  </a:lnTo>
                  <a:cubicBezTo>
                    <a:pt x="6765036" y="2361565"/>
                    <a:pt x="6642735" y="2481834"/>
                    <a:pt x="6492621" y="2481834"/>
                  </a:cubicBezTo>
                  <a:lnTo>
                    <a:pt x="6492621" y="2456434"/>
                  </a:lnTo>
                  <a:lnTo>
                    <a:pt x="6492621" y="2481834"/>
                  </a:lnTo>
                  <a:lnTo>
                    <a:pt x="272415" y="2481834"/>
                  </a:lnTo>
                  <a:lnTo>
                    <a:pt x="272415" y="2456434"/>
                  </a:lnTo>
                  <a:lnTo>
                    <a:pt x="272415" y="2481834"/>
                  </a:lnTo>
                  <a:cubicBezTo>
                    <a:pt x="122301" y="2481834"/>
                    <a:pt x="0" y="2361692"/>
                    <a:pt x="0" y="221259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212594"/>
                  </a:lnTo>
                  <a:lnTo>
                    <a:pt x="25400" y="2212594"/>
                  </a:lnTo>
                  <a:lnTo>
                    <a:pt x="50800" y="2212594"/>
                  </a:lnTo>
                  <a:cubicBezTo>
                    <a:pt x="50800" y="2332863"/>
                    <a:pt x="149733" y="2431034"/>
                    <a:pt x="272415" y="2431034"/>
                  </a:cubicBezTo>
                  <a:lnTo>
                    <a:pt x="6492621" y="2431034"/>
                  </a:lnTo>
                  <a:cubicBezTo>
                    <a:pt x="6615303" y="2431034"/>
                    <a:pt x="6714236" y="2332863"/>
                    <a:pt x="6714236" y="2212594"/>
                  </a:cubicBezTo>
                  <a:lnTo>
                    <a:pt x="6714236" y="269240"/>
                  </a:lnTo>
                  <a:cubicBezTo>
                    <a:pt x="6714236" y="148971"/>
                    <a:pt x="6615303" y="50800"/>
                    <a:pt x="6492621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911873" y="3653876"/>
            <a:ext cx="152400" cy="1823295"/>
            <a:chOff x="0" y="0"/>
            <a:chExt cx="203200" cy="24310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2431161"/>
            </a:xfrm>
            <a:custGeom>
              <a:avLst/>
              <a:gdLst/>
              <a:ahLst/>
              <a:cxnLst/>
              <a:rect r="r" b="b" t="t" l="l"/>
              <a:pathLst>
                <a:path h="2431161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374392"/>
                  </a:lnTo>
                  <a:cubicBezTo>
                    <a:pt x="203200" y="2405761"/>
                    <a:pt x="177800" y="2431161"/>
                    <a:pt x="146431" y="2431161"/>
                  </a:cubicBezTo>
                  <a:lnTo>
                    <a:pt x="56769" y="2431161"/>
                  </a:lnTo>
                  <a:cubicBezTo>
                    <a:pt x="25400" y="2431161"/>
                    <a:pt x="0" y="2405761"/>
                    <a:pt x="0" y="237439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385895" y="395644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85895" y="4606681"/>
            <a:ext cx="427821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Errors expose internal details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50188" y="3634826"/>
            <a:ext cx="5073996" cy="1861395"/>
            <a:chOff x="0" y="0"/>
            <a:chExt cx="6765328" cy="24818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6714490" cy="2431034"/>
            </a:xfrm>
            <a:custGeom>
              <a:avLst/>
              <a:gdLst/>
              <a:ahLst/>
              <a:cxnLst/>
              <a:rect r="r" b="b" t="t" l="l"/>
              <a:pathLst>
                <a:path h="2431034" w="6714490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6467475" y="0"/>
                  </a:lnTo>
                  <a:cubicBezTo>
                    <a:pt x="6603873" y="0"/>
                    <a:pt x="6714490" y="109220"/>
                    <a:pt x="6714490" y="243840"/>
                  </a:cubicBezTo>
                  <a:lnTo>
                    <a:pt x="6714490" y="2187194"/>
                  </a:lnTo>
                  <a:cubicBezTo>
                    <a:pt x="6714490" y="2321814"/>
                    <a:pt x="6603873" y="2431034"/>
                    <a:pt x="6467475" y="2431034"/>
                  </a:cubicBezTo>
                  <a:lnTo>
                    <a:pt x="247015" y="2431034"/>
                  </a:lnTo>
                  <a:cubicBezTo>
                    <a:pt x="110617" y="2431034"/>
                    <a:pt x="0" y="2321814"/>
                    <a:pt x="0" y="2187194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65290" cy="2481834"/>
            </a:xfrm>
            <a:custGeom>
              <a:avLst/>
              <a:gdLst/>
              <a:ahLst/>
              <a:cxnLst/>
              <a:rect r="r" b="b" t="t" l="l"/>
              <a:pathLst>
                <a:path h="2481834" w="6765290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6492875" y="0"/>
                  </a:lnTo>
                  <a:lnTo>
                    <a:pt x="6492875" y="25400"/>
                  </a:lnTo>
                  <a:lnTo>
                    <a:pt x="6492875" y="0"/>
                  </a:lnTo>
                  <a:cubicBezTo>
                    <a:pt x="6642989" y="0"/>
                    <a:pt x="6765290" y="120269"/>
                    <a:pt x="6765290" y="269240"/>
                  </a:cubicBezTo>
                  <a:lnTo>
                    <a:pt x="6739890" y="269240"/>
                  </a:lnTo>
                  <a:lnTo>
                    <a:pt x="6765290" y="269240"/>
                  </a:lnTo>
                  <a:lnTo>
                    <a:pt x="6765290" y="2212594"/>
                  </a:lnTo>
                  <a:lnTo>
                    <a:pt x="6739890" y="2212594"/>
                  </a:lnTo>
                  <a:lnTo>
                    <a:pt x="6765290" y="2212594"/>
                  </a:lnTo>
                  <a:cubicBezTo>
                    <a:pt x="6765290" y="2361565"/>
                    <a:pt x="6642989" y="2481834"/>
                    <a:pt x="6492875" y="2481834"/>
                  </a:cubicBezTo>
                  <a:lnTo>
                    <a:pt x="6492875" y="2456434"/>
                  </a:lnTo>
                  <a:lnTo>
                    <a:pt x="6492875" y="2481834"/>
                  </a:lnTo>
                  <a:lnTo>
                    <a:pt x="272415" y="2481834"/>
                  </a:lnTo>
                  <a:lnTo>
                    <a:pt x="272415" y="2456434"/>
                  </a:lnTo>
                  <a:lnTo>
                    <a:pt x="272415" y="2481834"/>
                  </a:lnTo>
                  <a:cubicBezTo>
                    <a:pt x="122301" y="2481834"/>
                    <a:pt x="0" y="2361692"/>
                    <a:pt x="0" y="221259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212594"/>
                  </a:lnTo>
                  <a:lnTo>
                    <a:pt x="25400" y="2212594"/>
                  </a:lnTo>
                  <a:lnTo>
                    <a:pt x="50800" y="2212594"/>
                  </a:lnTo>
                  <a:cubicBezTo>
                    <a:pt x="50800" y="2332863"/>
                    <a:pt x="149733" y="2431034"/>
                    <a:pt x="272415" y="2431034"/>
                  </a:cubicBezTo>
                  <a:lnTo>
                    <a:pt x="6492875" y="2431034"/>
                  </a:lnTo>
                  <a:cubicBezTo>
                    <a:pt x="6615557" y="2431034"/>
                    <a:pt x="6714490" y="2332863"/>
                    <a:pt x="6714490" y="2212594"/>
                  </a:cubicBezTo>
                  <a:lnTo>
                    <a:pt x="6714490" y="269240"/>
                  </a:lnTo>
                  <a:cubicBezTo>
                    <a:pt x="6714490" y="148971"/>
                    <a:pt x="6615557" y="50800"/>
                    <a:pt x="6492875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31138" y="3653876"/>
            <a:ext cx="152400" cy="1823295"/>
            <a:chOff x="0" y="0"/>
            <a:chExt cx="203200" cy="24310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431161"/>
            </a:xfrm>
            <a:custGeom>
              <a:avLst/>
              <a:gdLst/>
              <a:ahLst/>
              <a:cxnLst/>
              <a:rect r="r" b="b" t="t" l="l"/>
              <a:pathLst>
                <a:path h="2431161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374392"/>
                  </a:lnTo>
                  <a:cubicBezTo>
                    <a:pt x="203200" y="2405761"/>
                    <a:pt x="177800" y="2431161"/>
                    <a:pt x="146431" y="2431161"/>
                  </a:cubicBezTo>
                  <a:lnTo>
                    <a:pt x="56769" y="2431161"/>
                  </a:lnTo>
                  <a:cubicBezTo>
                    <a:pt x="25400" y="2431161"/>
                    <a:pt x="0" y="2405761"/>
                    <a:pt x="0" y="237439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705159" y="395644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05159" y="4606681"/>
            <a:ext cx="427836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Leak stack traces, system info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930923" y="5741641"/>
            <a:ext cx="5073853" cy="2315023"/>
            <a:chOff x="0" y="0"/>
            <a:chExt cx="6765138" cy="30866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6714236" cy="3035935"/>
            </a:xfrm>
            <a:custGeom>
              <a:avLst/>
              <a:gdLst/>
              <a:ahLst/>
              <a:cxnLst/>
              <a:rect r="r" b="b" t="t" l="l"/>
              <a:pathLst>
                <a:path h="3035935" w="6714236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237" y="0"/>
                  </a:lnTo>
                  <a:cubicBezTo>
                    <a:pt x="6604127" y="0"/>
                    <a:pt x="6714236" y="109220"/>
                    <a:pt x="6714236" y="243840"/>
                  </a:cubicBezTo>
                  <a:lnTo>
                    <a:pt x="6714236" y="2792095"/>
                  </a:lnTo>
                  <a:cubicBezTo>
                    <a:pt x="6714236" y="2926715"/>
                    <a:pt x="6604127" y="3035935"/>
                    <a:pt x="6468237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65036" cy="3086735"/>
            </a:xfrm>
            <a:custGeom>
              <a:avLst/>
              <a:gdLst/>
              <a:ahLst/>
              <a:cxnLst/>
              <a:rect r="r" b="b" t="t" l="l"/>
              <a:pathLst>
                <a:path h="3086735" w="6765036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637" y="0"/>
                  </a:lnTo>
                  <a:lnTo>
                    <a:pt x="6493637" y="25400"/>
                  </a:lnTo>
                  <a:lnTo>
                    <a:pt x="6493637" y="0"/>
                  </a:lnTo>
                  <a:cubicBezTo>
                    <a:pt x="6643370" y="0"/>
                    <a:pt x="6765036" y="120269"/>
                    <a:pt x="6765036" y="269240"/>
                  </a:cubicBezTo>
                  <a:lnTo>
                    <a:pt x="6739636" y="269240"/>
                  </a:lnTo>
                  <a:lnTo>
                    <a:pt x="6765036" y="269240"/>
                  </a:lnTo>
                  <a:lnTo>
                    <a:pt x="6765036" y="2817495"/>
                  </a:lnTo>
                  <a:lnTo>
                    <a:pt x="6739636" y="2817495"/>
                  </a:lnTo>
                  <a:lnTo>
                    <a:pt x="6765036" y="2817495"/>
                  </a:lnTo>
                  <a:cubicBezTo>
                    <a:pt x="6765036" y="2966466"/>
                    <a:pt x="6643243" y="3086735"/>
                    <a:pt x="6493637" y="3086735"/>
                  </a:cubicBezTo>
                  <a:lnTo>
                    <a:pt x="6493637" y="3061335"/>
                  </a:lnTo>
                  <a:lnTo>
                    <a:pt x="6493637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637" y="3035935"/>
                  </a:lnTo>
                  <a:cubicBezTo>
                    <a:pt x="6615684" y="3035935"/>
                    <a:pt x="6714236" y="2937891"/>
                    <a:pt x="6714236" y="2817495"/>
                  </a:cubicBezTo>
                  <a:lnTo>
                    <a:pt x="6714236" y="269240"/>
                  </a:lnTo>
                  <a:cubicBezTo>
                    <a:pt x="6714236" y="148844"/>
                    <a:pt x="6615684" y="50800"/>
                    <a:pt x="6493637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11873" y="5760691"/>
            <a:ext cx="152400" cy="2276923"/>
            <a:chOff x="0" y="0"/>
            <a:chExt cx="203200" cy="30358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200" cy="3035935"/>
            </a:xfrm>
            <a:custGeom>
              <a:avLst/>
              <a:gdLst/>
              <a:ahLst/>
              <a:cxnLst/>
              <a:rect r="r" b="b" t="t" l="l"/>
              <a:pathLst>
                <a:path h="3035935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385895" y="6063253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85895" y="6713487"/>
            <a:ext cx="427821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Poor error handling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50188" y="5741641"/>
            <a:ext cx="5073996" cy="2315023"/>
            <a:chOff x="0" y="0"/>
            <a:chExt cx="6765328" cy="30866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6714490" cy="3035935"/>
            </a:xfrm>
            <a:custGeom>
              <a:avLst/>
              <a:gdLst/>
              <a:ahLst/>
              <a:cxnLst/>
              <a:rect r="r" b="b" t="t" l="l"/>
              <a:pathLst>
                <a:path h="3035935" w="6714490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491" y="0"/>
                  </a:lnTo>
                  <a:cubicBezTo>
                    <a:pt x="6604381" y="0"/>
                    <a:pt x="6714490" y="109220"/>
                    <a:pt x="6714490" y="243840"/>
                  </a:cubicBezTo>
                  <a:lnTo>
                    <a:pt x="6714490" y="2792095"/>
                  </a:lnTo>
                  <a:cubicBezTo>
                    <a:pt x="6714490" y="2926715"/>
                    <a:pt x="6604381" y="3035935"/>
                    <a:pt x="6468491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65290" cy="3086735"/>
            </a:xfrm>
            <a:custGeom>
              <a:avLst/>
              <a:gdLst/>
              <a:ahLst/>
              <a:cxnLst/>
              <a:rect r="r" b="b" t="t" l="l"/>
              <a:pathLst>
                <a:path h="3086735" w="6765290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891" y="0"/>
                  </a:lnTo>
                  <a:lnTo>
                    <a:pt x="6493891" y="25400"/>
                  </a:lnTo>
                  <a:lnTo>
                    <a:pt x="6493891" y="0"/>
                  </a:lnTo>
                  <a:cubicBezTo>
                    <a:pt x="6643624" y="0"/>
                    <a:pt x="6765290" y="120269"/>
                    <a:pt x="6765290" y="269240"/>
                  </a:cubicBezTo>
                  <a:lnTo>
                    <a:pt x="6739890" y="269240"/>
                  </a:lnTo>
                  <a:lnTo>
                    <a:pt x="6765290" y="269240"/>
                  </a:lnTo>
                  <a:lnTo>
                    <a:pt x="6765290" y="2817495"/>
                  </a:lnTo>
                  <a:lnTo>
                    <a:pt x="6739890" y="2817495"/>
                  </a:lnTo>
                  <a:lnTo>
                    <a:pt x="6765290" y="2817495"/>
                  </a:lnTo>
                  <a:cubicBezTo>
                    <a:pt x="6765290" y="2966466"/>
                    <a:pt x="6643497" y="3086735"/>
                    <a:pt x="6493891" y="3086735"/>
                  </a:cubicBezTo>
                  <a:lnTo>
                    <a:pt x="6493891" y="3061335"/>
                  </a:lnTo>
                  <a:lnTo>
                    <a:pt x="6493891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891" y="3035935"/>
                  </a:lnTo>
                  <a:cubicBezTo>
                    <a:pt x="6615938" y="3035935"/>
                    <a:pt x="6714490" y="2937891"/>
                    <a:pt x="6714490" y="2817495"/>
                  </a:cubicBezTo>
                  <a:lnTo>
                    <a:pt x="6714490" y="269240"/>
                  </a:lnTo>
                  <a:cubicBezTo>
                    <a:pt x="6714490" y="148844"/>
                    <a:pt x="6615938" y="50800"/>
                    <a:pt x="6493891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31138" y="5760691"/>
            <a:ext cx="152400" cy="2276923"/>
            <a:chOff x="0" y="0"/>
            <a:chExt cx="203200" cy="30358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3200" cy="3035935"/>
            </a:xfrm>
            <a:custGeom>
              <a:avLst/>
              <a:gdLst/>
              <a:ahLst/>
              <a:cxnLst/>
              <a:rect r="r" b="b" t="t" l="l"/>
              <a:pathLst>
                <a:path h="3035935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705159" y="6063253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05159" y="6713487"/>
            <a:ext cx="4278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Generic error responses &amp; proper exception handling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49973" y="8261299"/>
            <a:ext cx="1035516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Key Lesson: Errors should not reveal system internals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935686" y="8427244"/>
            <a:ext cx="312096" cy="312096"/>
            <a:chOff x="0" y="0"/>
            <a:chExt cx="416128" cy="416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6179" cy="416179"/>
            </a:xfrm>
            <a:custGeom>
              <a:avLst/>
              <a:gdLst/>
              <a:ahLst/>
              <a:cxnLst/>
              <a:rect r="r" b="b" t="t" l="l"/>
              <a:pathLst>
                <a:path h="416179" w="416179">
                  <a:moveTo>
                    <a:pt x="0" y="75819"/>
                  </a:moveTo>
                  <a:cubicBezTo>
                    <a:pt x="0" y="33909"/>
                    <a:pt x="33909" y="0"/>
                    <a:pt x="75819" y="0"/>
                  </a:cubicBezTo>
                  <a:lnTo>
                    <a:pt x="340360" y="0"/>
                  </a:lnTo>
                  <a:lnTo>
                    <a:pt x="340360" y="19050"/>
                  </a:lnTo>
                  <a:lnTo>
                    <a:pt x="340360" y="0"/>
                  </a:lnTo>
                  <a:cubicBezTo>
                    <a:pt x="382143" y="0"/>
                    <a:pt x="416179" y="33909"/>
                    <a:pt x="416179" y="75819"/>
                  </a:cubicBezTo>
                  <a:lnTo>
                    <a:pt x="397129" y="75819"/>
                  </a:lnTo>
                  <a:lnTo>
                    <a:pt x="416179" y="75819"/>
                  </a:lnTo>
                  <a:lnTo>
                    <a:pt x="416179" y="340360"/>
                  </a:lnTo>
                  <a:lnTo>
                    <a:pt x="397129" y="340360"/>
                  </a:lnTo>
                  <a:lnTo>
                    <a:pt x="416179" y="340360"/>
                  </a:lnTo>
                  <a:cubicBezTo>
                    <a:pt x="416179" y="382143"/>
                    <a:pt x="382270" y="416179"/>
                    <a:pt x="340360" y="416179"/>
                  </a:cubicBezTo>
                  <a:lnTo>
                    <a:pt x="340360" y="397129"/>
                  </a:lnTo>
                  <a:lnTo>
                    <a:pt x="340360" y="416179"/>
                  </a:lnTo>
                  <a:lnTo>
                    <a:pt x="75819" y="416179"/>
                  </a:lnTo>
                  <a:lnTo>
                    <a:pt x="75819" y="397129"/>
                  </a:lnTo>
                  <a:lnTo>
                    <a:pt x="75819" y="416179"/>
                  </a:lnTo>
                  <a:cubicBezTo>
                    <a:pt x="33909" y="416179"/>
                    <a:pt x="0" y="382143"/>
                    <a:pt x="0" y="340360"/>
                  </a:cubicBezTo>
                  <a:lnTo>
                    <a:pt x="0" y="75819"/>
                  </a:lnTo>
                  <a:lnTo>
                    <a:pt x="19050" y="75819"/>
                  </a:lnTo>
                  <a:lnTo>
                    <a:pt x="0" y="75819"/>
                  </a:lnTo>
                  <a:moveTo>
                    <a:pt x="38100" y="75819"/>
                  </a:moveTo>
                  <a:lnTo>
                    <a:pt x="38100" y="340360"/>
                  </a:lnTo>
                  <a:lnTo>
                    <a:pt x="19050" y="340360"/>
                  </a:lnTo>
                  <a:lnTo>
                    <a:pt x="38100" y="340360"/>
                  </a:lnTo>
                  <a:cubicBezTo>
                    <a:pt x="38100" y="361188"/>
                    <a:pt x="54991" y="378079"/>
                    <a:pt x="75819" y="378079"/>
                  </a:cubicBezTo>
                  <a:lnTo>
                    <a:pt x="340360" y="378079"/>
                  </a:lnTo>
                  <a:cubicBezTo>
                    <a:pt x="361188" y="378079"/>
                    <a:pt x="378079" y="361188"/>
                    <a:pt x="378079" y="340360"/>
                  </a:cubicBezTo>
                  <a:lnTo>
                    <a:pt x="378079" y="75819"/>
                  </a:lnTo>
                  <a:cubicBezTo>
                    <a:pt x="378079" y="54991"/>
                    <a:pt x="361188" y="38100"/>
                    <a:pt x="340360" y="38100"/>
                  </a:cubicBezTo>
                  <a:lnTo>
                    <a:pt x="75819" y="38100"/>
                  </a:lnTo>
                  <a:lnTo>
                    <a:pt x="75819" y="19050"/>
                  </a:lnTo>
                  <a:lnTo>
                    <a:pt x="75819" y="38100"/>
                  </a:lnTo>
                  <a:cubicBezTo>
                    <a:pt x="54991" y="38100"/>
                    <a:pt x="38100" y="54991"/>
                    <a:pt x="38100" y="75819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684" y="760362"/>
            <a:ext cx="6574479" cy="8766124"/>
            <a:chOff x="0" y="0"/>
            <a:chExt cx="8765972" cy="1168816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65921" cy="11688191"/>
            </a:xfrm>
            <a:custGeom>
              <a:avLst/>
              <a:gdLst/>
              <a:ahLst/>
              <a:cxnLst/>
              <a:rect r="r" b="b" t="t" l="l"/>
              <a:pathLst>
                <a:path h="11688191" w="8765921">
                  <a:moveTo>
                    <a:pt x="0" y="0"/>
                  </a:moveTo>
                  <a:lnTo>
                    <a:pt x="8765921" y="0"/>
                  </a:lnTo>
                  <a:lnTo>
                    <a:pt x="8765921" y="11688191"/>
                  </a:lnTo>
                  <a:lnTo>
                    <a:pt x="0" y="11688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" t="0" r="-3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1468488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Takeaways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2712987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Serverless apps have distributed attack surfaces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0238" y="3580809"/>
            <a:ext cx="4580934" cy="3291926"/>
            <a:chOff x="0" y="0"/>
            <a:chExt cx="6107913" cy="43892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07938" cy="4389247"/>
            </a:xfrm>
            <a:custGeom>
              <a:avLst/>
              <a:gdLst/>
              <a:ahLst/>
              <a:cxnLst/>
              <a:rect r="r" b="b" t="t" l="l"/>
              <a:pathLst>
                <a:path h="4389247" w="610793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169" y="0"/>
                  </a:lnTo>
                  <a:cubicBezTo>
                    <a:pt x="6082538" y="0"/>
                    <a:pt x="6107938" y="25400"/>
                    <a:pt x="6107938" y="56769"/>
                  </a:cubicBezTo>
                  <a:lnTo>
                    <a:pt x="6107938" y="4332478"/>
                  </a:lnTo>
                  <a:cubicBezTo>
                    <a:pt x="6107938" y="4363847"/>
                    <a:pt x="6082538" y="4389247"/>
                    <a:pt x="6051169" y="4389247"/>
                  </a:cubicBezTo>
                  <a:lnTo>
                    <a:pt x="56769" y="4389247"/>
                  </a:lnTo>
                  <a:cubicBezTo>
                    <a:pt x="25400" y="4389247"/>
                    <a:pt x="0" y="4363847"/>
                    <a:pt x="0" y="4332478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33759" y="384527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Common Risks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3759" y="4382091"/>
            <a:ext cx="4013892" cy="220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Input handling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Authentication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IAM permissions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Misconfigurations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14684" y="3580809"/>
            <a:ext cx="4581077" cy="3291926"/>
            <a:chOff x="0" y="0"/>
            <a:chExt cx="6108103" cy="43892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08192" cy="4389247"/>
            </a:xfrm>
            <a:custGeom>
              <a:avLst/>
              <a:gdLst/>
              <a:ahLst/>
              <a:cxnLst/>
              <a:rect r="r" b="b" t="t" l="l"/>
              <a:pathLst>
                <a:path h="4389247" w="6108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423" y="0"/>
                  </a:lnTo>
                  <a:cubicBezTo>
                    <a:pt x="6082792" y="0"/>
                    <a:pt x="6108192" y="25400"/>
                    <a:pt x="6108192" y="56769"/>
                  </a:cubicBezTo>
                  <a:lnTo>
                    <a:pt x="6108192" y="4332478"/>
                  </a:lnTo>
                  <a:cubicBezTo>
                    <a:pt x="6108192" y="4363847"/>
                    <a:pt x="6082792" y="4389247"/>
                    <a:pt x="6051423" y="4389247"/>
                  </a:cubicBezTo>
                  <a:lnTo>
                    <a:pt x="56769" y="4389247"/>
                  </a:lnTo>
                  <a:cubicBezTo>
                    <a:pt x="25400" y="4389247"/>
                    <a:pt x="0" y="4363847"/>
                    <a:pt x="0" y="4332478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998206" y="3845271"/>
            <a:ext cx="4014045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Security Principles Applied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98206" y="4825003"/>
            <a:ext cx="4014045" cy="165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Input validation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Least privilege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Defense in depth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850238" y="7156247"/>
            <a:ext cx="9445523" cy="1633690"/>
            <a:chOff x="0" y="0"/>
            <a:chExt cx="12594031" cy="21782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93955" cy="2178177"/>
            </a:xfrm>
            <a:custGeom>
              <a:avLst/>
              <a:gdLst/>
              <a:ahLst/>
              <a:cxnLst/>
              <a:rect r="r" b="b" t="t" l="l"/>
              <a:pathLst>
                <a:path h="2178177" w="1259395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2537313" y="0"/>
                  </a:lnTo>
                  <a:cubicBezTo>
                    <a:pt x="12568682" y="0"/>
                    <a:pt x="12593955" y="25400"/>
                    <a:pt x="12593955" y="56642"/>
                  </a:cubicBezTo>
                  <a:lnTo>
                    <a:pt x="12593955" y="2121535"/>
                  </a:lnTo>
                  <a:cubicBezTo>
                    <a:pt x="12593955" y="2152904"/>
                    <a:pt x="12568555" y="2178177"/>
                    <a:pt x="1253731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133759" y="742071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Important Insight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33759" y="7957547"/>
            <a:ext cx="887849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Small bugs → major cloud impact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8435" y="742798"/>
            <a:ext cx="6600977" cy="8801395"/>
            <a:chOff x="0" y="0"/>
            <a:chExt cx="8801303" cy="1173519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01354" cy="11735181"/>
            </a:xfrm>
            <a:custGeom>
              <a:avLst/>
              <a:gdLst/>
              <a:ahLst/>
              <a:cxnLst/>
              <a:rect r="r" b="b" t="t" l="l"/>
              <a:pathLst>
                <a:path h="11735181" w="8801354">
                  <a:moveTo>
                    <a:pt x="0" y="0"/>
                  </a:moveTo>
                  <a:lnTo>
                    <a:pt x="8801354" y="0"/>
                  </a:lnTo>
                  <a:lnTo>
                    <a:pt x="8801354" y="11735181"/>
                  </a:lnTo>
                  <a:lnTo>
                    <a:pt x="0" y="11735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" t="0" r="-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757217" y="712737"/>
            <a:ext cx="6423717" cy="85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Conclusion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57217" y="1912439"/>
            <a:ext cx="4815773" cy="2377535"/>
            <a:chOff x="0" y="0"/>
            <a:chExt cx="6265862" cy="30934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65926" cy="3093466"/>
            </a:xfrm>
            <a:custGeom>
              <a:avLst/>
              <a:gdLst/>
              <a:ahLst/>
              <a:cxnLst/>
              <a:rect r="r" b="b" t="t" l="l"/>
              <a:pathLst>
                <a:path h="3093466" w="6265926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6214491" y="0"/>
                  </a:lnTo>
                  <a:cubicBezTo>
                    <a:pt x="6242812" y="0"/>
                    <a:pt x="6265926" y="22987"/>
                    <a:pt x="6265926" y="51435"/>
                  </a:cubicBezTo>
                  <a:lnTo>
                    <a:pt x="6265926" y="3042031"/>
                  </a:lnTo>
                  <a:cubicBezTo>
                    <a:pt x="6265926" y="3070352"/>
                    <a:pt x="6242939" y="3093466"/>
                    <a:pt x="6214491" y="3093466"/>
                  </a:cubicBezTo>
                  <a:lnTo>
                    <a:pt x="51435" y="3093466"/>
                  </a:lnTo>
                  <a:cubicBezTo>
                    <a:pt x="23114" y="3093466"/>
                    <a:pt x="0" y="3070479"/>
                    <a:pt x="0" y="3042031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014097" y="2169319"/>
            <a:ext cx="770782" cy="770782"/>
            <a:chOff x="0" y="0"/>
            <a:chExt cx="1027709" cy="10277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7684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27684">
                  <a:moveTo>
                    <a:pt x="0" y="513842"/>
                  </a:moveTo>
                  <a:cubicBezTo>
                    <a:pt x="0" y="229997"/>
                    <a:pt x="229997" y="0"/>
                    <a:pt x="513842" y="0"/>
                  </a:cubicBezTo>
                  <a:cubicBezTo>
                    <a:pt x="797687" y="0"/>
                    <a:pt x="1027684" y="229997"/>
                    <a:pt x="1027684" y="513842"/>
                  </a:cubicBezTo>
                  <a:cubicBezTo>
                    <a:pt x="1027684" y="797687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014097" y="3153813"/>
            <a:ext cx="4045888" cy="113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2416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Successfully Identified &amp; Exploited Vulnerabilities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689386" y="1912439"/>
            <a:ext cx="4699397" cy="2320080"/>
            <a:chOff x="0" y="0"/>
            <a:chExt cx="6265862" cy="30934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65926" cy="3093466"/>
            </a:xfrm>
            <a:custGeom>
              <a:avLst/>
              <a:gdLst/>
              <a:ahLst/>
              <a:cxnLst/>
              <a:rect r="r" b="b" t="t" l="l"/>
              <a:pathLst>
                <a:path h="3093466" w="6265926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6214491" y="0"/>
                  </a:lnTo>
                  <a:cubicBezTo>
                    <a:pt x="6242812" y="0"/>
                    <a:pt x="6265926" y="22987"/>
                    <a:pt x="6265926" y="51435"/>
                  </a:cubicBezTo>
                  <a:lnTo>
                    <a:pt x="6265926" y="3042031"/>
                  </a:lnTo>
                  <a:cubicBezTo>
                    <a:pt x="6265926" y="3070352"/>
                    <a:pt x="6242939" y="3093466"/>
                    <a:pt x="6214491" y="3093466"/>
                  </a:cubicBezTo>
                  <a:lnTo>
                    <a:pt x="51435" y="3093466"/>
                  </a:lnTo>
                  <a:cubicBezTo>
                    <a:pt x="23114" y="3093466"/>
                    <a:pt x="0" y="3070479"/>
                    <a:pt x="0" y="3042031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946266" y="2169319"/>
            <a:ext cx="770782" cy="770782"/>
            <a:chOff x="0" y="0"/>
            <a:chExt cx="1027709" cy="10277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7684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27684">
                  <a:moveTo>
                    <a:pt x="0" y="513842"/>
                  </a:moveTo>
                  <a:cubicBezTo>
                    <a:pt x="0" y="229997"/>
                    <a:pt x="229997" y="0"/>
                    <a:pt x="513842" y="0"/>
                  </a:cubicBezTo>
                  <a:cubicBezTo>
                    <a:pt x="797687" y="0"/>
                    <a:pt x="1027684" y="229997"/>
                    <a:pt x="1027684" y="513842"/>
                  </a:cubicBezTo>
                  <a:cubicBezTo>
                    <a:pt x="1027684" y="797687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946266" y="3163338"/>
            <a:ext cx="3211859" cy="41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Implemented Fixes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757208" y="4722171"/>
            <a:ext cx="9631566" cy="1918697"/>
            <a:chOff x="0" y="0"/>
            <a:chExt cx="12842088" cy="25582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42113" cy="2558288"/>
            </a:xfrm>
            <a:custGeom>
              <a:avLst/>
              <a:gdLst/>
              <a:ahLst/>
              <a:cxnLst/>
              <a:rect r="r" b="b" t="t" l="l"/>
              <a:pathLst>
                <a:path h="2558288" w="12842113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2790678" y="0"/>
                  </a:lnTo>
                  <a:cubicBezTo>
                    <a:pt x="12819126" y="0"/>
                    <a:pt x="12842113" y="22987"/>
                    <a:pt x="12842113" y="51435"/>
                  </a:cubicBezTo>
                  <a:lnTo>
                    <a:pt x="12842113" y="2506853"/>
                  </a:lnTo>
                  <a:cubicBezTo>
                    <a:pt x="12842113" y="2535301"/>
                    <a:pt x="12819126" y="2558288"/>
                    <a:pt x="12790678" y="2558288"/>
                  </a:cubicBezTo>
                  <a:lnTo>
                    <a:pt x="51435" y="2558288"/>
                  </a:lnTo>
                  <a:cubicBezTo>
                    <a:pt x="22987" y="2558288"/>
                    <a:pt x="0" y="2535301"/>
                    <a:pt x="0" y="2506853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014097" y="4842119"/>
            <a:ext cx="770782" cy="770782"/>
            <a:chOff x="0" y="0"/>
            <a:chExt cx="1027709" cy="1027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7684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27684">
                  <a:moveTo>
                    <a:pt x="0" y="513842"/>
                  </a:moveTo>
                  <a:cubicBezTo>
                    <a:pt x="0" y="229997"/>
                    <a:pt x="229997" y="0"/>
                    <a:pt x="513842" y="0"/>
                  </a:cubicBezTo>
                  <a:cubicBezTo>
                    <a:pt x="797687" y="0"/>
                    <a:pt x="1027684" y="229997"/>
                    <a:pt x="1027684" y="513842"/>
                  </a:cubicBezTo>
                  <a:cubicBezTo>
                    <a:pt x="1027684" y="797687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014097" y="5831977"/>
            <a:ext cx="3403844" cy="41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Verified Remediation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57217" y="6723612"/>
            <a:ext cx="3211859" cy="41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Learned: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57217" y="7407478"/>
            <a:ext cx="9631566" cy="94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Real-world cloud security risks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Offensive + defensive techniques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42532" y="8796490"/>
            <a:ext cx="9246241" cy="46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Final Thought:</a:t>
            </a: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Secure design is essential in modern cloud systems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757217" y="8610752"/>
            <a:ext cx="28575" cy="915743"/>
            <a:chOff x="0" y="0"/>
            <a:chExt cx="38100" cy="1220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100" cy="1220978"/>
            </a:xfrm>
            <a:custGeom>
              <a:avLst/>
              <a:gdLst/>
              <a:ahLst/>
              <a:cxnLst/>
              <a:rect r="r" b="b" t="t" l="l"/>
              <a:pathLst>
                <a:path h="1220978" w="38100">
                  <a:moveTo>
                    <a:pt x="0" y="0"/>
                  </a:moveTo>
                  <a:lnTo>
                    <a:pt x="38100" y="0"/>
                  </a:lnTo>
                  <a:lnTo>
                    <a:pt x="38100" y="1220978"/>
                  </a:lnTo>
                  <a:lnTo>
                    <a:pt x="0" y="1220978"/>
                  </a:lnTo>
                  <a:close/>
                </a:path>
              </a:pathLst>
            </a:custGeom>
            <a:solidFill>
              <a:srgbClr val="E1E1DF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DAHH-Es37ss</dc:identifier>
  <dcterms:modified xsi:type="dcterms:W3CDTF">2011-08-01T06:04:30Z</dcterms:modified>
  <cp:revision>1</cp:revision>
  <dc:title>DVSA-Vulnerability-Discovery-and-Remediation.pptx</dc:title>
</cp:coreProperties>
</file>